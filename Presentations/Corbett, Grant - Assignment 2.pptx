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503030501040103" pitchFamily="34" charset="0"/>
      <p:regular r:id="rId9"/>
    </p:embeddedFont>
    <p:embeddedFont>
      <p:font typeface="Canva Sans Bold" panose="020B0803030501040103" pitchFamily="34" charset="0"/>
      <p:regular r:id="rId10"/>
      <p:bold r:id="rId11"/>
    </p:embeddedFont>
    <p:embeddedFont>
      <p:font typeface="Inter" panose="020B0502030000000004" pitchFamily="34" charset="0"/>
      <p:regular r:id="rId12"/>
    </p:embeddedFont>
    <p:embeddedFont>
      <p:font typeface="Inter Bold" panose="020B0802030000000004" pitchFamily="34" charset="0"/>
      <p:regular r:id="rId13"/>
      <p:bold r:id="rId14"/>
    </p:embeddedFont>
    <p:embeddedFont>
      <p:font typeface="Now" pitchFamily="2" charset="77"/>
      <p:regular r:id="rId15"/>
    </p:embeddedFont>
    <p:embeddedFont>
      <p:font typeface="Now Bold" pitchFamily="2" charset="77"/>
      <p:regular r:id="rId16"/>
      <p:bold r:id="rId17"/>
    </p:embeddedFon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Bold" pitchFamily="2" charset="7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0" autoAdjust="0"/>
  </p:normalViewPr>
  <p:slideViewPr>
    <p:cSldViewPr>
      <p:cViewPr varScale="1">
        <p:scale>
          <a:sx n="77" d="100"/>
          <a:sy n="77" d="100"/>
        </p:scale>
        <p:origin x="3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51276" y="7303090"/>
            <a:ext cx="2787056" cy="602256"/>
            <a:chOff x="0" y="0"/>
            <a:chExt cx="908555" cy="196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8555" cy="196330"/>
            </a:xfrm>
            <a:custGeom>
              <a:avLst/>
              <a:gdLst/>
              <a:ahLst/>
              <a:cxnLst/>
              <a:rect l="l" t="t" r="r" b="b"/>
              <a:pathLst>
                <a:path w="908555" h="196330">
                  <a:moveTo>
                    <a:pt x="0" y="0"/>
                  </a:moveTo>
                  <a:lnTo>
                    <a:pt x="908555" y="0"/>
                  </a:lnTo>
                  <a:lnTo>
                    <a:pt x="908555" y="196330"/>
                  </a:lnTo>
                  <a:lnTo>
                    <a:pt x="0" y="196330"/>
                  </a:lnTo>
                  <a:close/>
                </a:path>
              </a:pathLst>
            </a:custGeom>
            <a:solidFill>
              <a:srgbClr val="8267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90855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97504" y="7303090"/>
            <a:ext cx="2787056" cy="602256"/>
            <a:chOff x="0" y="0"/>
            <a:chExt cx="908555" cy="1963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8555" cy="196330"/>
            </a:xfrm>
            <a:custGeom>
              <a:avLst/>
              <a:gdLst/>
              <a:ahLst/>
              <a:cxnLst/>
              <a:rect l="l" t="t" r="r" b="b"/>
              <a:pathLst>
                <a:path w="908555" h="196330">
                  <a:moveTo>
                    <a:pt x="0" y="0"/>
                  </a:moveTo>
                  <a:lnTo>
                    <a:pt x="908555" y="0"/>
                  </a:lnTo>
                  <a:lnTo>
                    <a:pt x="908555" y="196330"/>
                  </a:lnTo>
                  <a:lnTo>
                    <a:pt x="0" y="196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267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90855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94077" y="2005193"/>
            <a:ext cx="4343667" cy="6276614"/>
          </a:xfrm>
          <a:custGeom>
            <a:avLst/>
            <a:gdLst/>
            <a:ahLst/>
            <a:cxnLst/>
            <a:rect l="l" t="t" r="r" b="b"/>
            <a:pathLst>
              <a:path w="4343667" h="6276614">
                <a:moveTo>
                  <a:pt x="0" y="0"/>
                </a:moveTo>
                <a:lnTo>
                  <a:pt x="4343668" y="0"/>
                </a:lnTo>
                <a:lnTo>
                  <a:pt x="4343668" y="6276614"/>
                </a:lnTo>
                <a:lnTo>
                  <a:pt x="0" y="627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474336" y="2020710"/>
            <a:ext cx="5988512" cy="297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7"/>
              </a:lnSpc>
              <a:spcBef>
                <a:spcPct val="0"/>
              </a:spcBef>
            </a:pPr>
            <a:r>
              <a:rPr lang="en-US" sz="17491" b="1">
                <a:solidFill>
                  <a:srgbClr val="F8BF4A"/>
                </a:solidFill>
                <a:latin typeface="Inter Bold"/>
                <a:ea typeface="Inter Bold"/>
                <a:cs typeface="Inter Bold"/>
                <a:sym typeface="Inter Bold"/>
              </a:rPr>
              <a:t>BAPE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15469" y="7392471"/>
            <a:ext cx="2058670" cy="36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06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Slide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13138" y="7420913"/>
            <a:ext cx="2155788" cy="36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066" dirty="0">
                <a:solidFill>
                  <a:srgbClr val="826733"/>
                </a:solidFill>
                <a:latin typeface="Poppins"/>
                <a:ea typeface="Poppins"/>
                <a:cs typeface="Poppins"/>
                <a:sym typeface="Poppins"/>
              </a:rPr>
              <a:t>Fall 2024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1276" y="4629835"/>
            <a:ext cx="10708024" cy="235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7"/>
              </a:lnSpc>
              <a:spcBef>
                <a:spcPct val="0"/>
              </a:spcBef>
            </a:pPr>
            <a:r>
              <a:rPr lang="en-US" sz="6762" b="1">
                <a:solidFill>
                  <a:srgbClr val="826733"/>
                </a:solidFill>
                <a:latin typeface="Inter Bold"/>
                <a:ea typeface="Inter Bold"/>
                <a:cs typeface="Inter Bold"/>
                <a:sym typeface="Inter Bold"/>
              </a:rPr>
              <a:t>Streetwear Industry Near Future Outlook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-83177"/>
            <a:ext cx="16230600" cy="8893157"/>
            <a:chOff x="0" y="0"/>
            <a:chExt cx="21640800" cy="11857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9783257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642808" y="-599770"/>
            <a:ext cx="5208478" cy="11396052"/>
            <a:chOff x="-23374" y="-142875"/>
            <a:chExt cx="1228572" cy="2863996"/>
          </a:xfrm>
        </p:grpSpPr>
        <p:sp>
          <p:nvSpPr>
            <p:cNvPr id="7" name="Freeform 7"/>
            <p:cNvSpPr/>
            <p:nvPr/>
          </p:nvSpPr>
          <p:spPr>
            <a:xfrm>
              <a:off x="-23374" y="-20869"/>
              <a:ext cx="1205198" cy="2741990"/>
            </a:xfrm>
            <a:custGeom>
              <a:avLst/>
              <a:gdLst/>
              <a:ahLst/>
              <a:cxnLst/>
              <a:rect l="l" t="t" r="r" b="b"/>
              <a:pathLst>
                <a:path w="1205198" h="2709751">
                  <a:moveTo>
                    <a:pt x="0" y="0"/>
                  </a:moveTo>
                  <a:lnTo>
                    <a:pt x="1205198" y="0"/>
                  </a:lnTo>
                  <a:lnTo>
                    <a:pt x="1205198" y="2709751"/>
                  </a:lnTo>
                  <a:lnTo>
                    <a:pt x="0" y="2709751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1205198" cy="2852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Executive </a:t>
              </a:r>
            </a:p>
            <a:p>
              <a:pPr algn="ctr">
                <a:lnSpc>
                  <a:spcPts val="7000"/>
                </a:lnSpc>
              </a:pPr>
              <a:r>
                <a:rPr lang="en-US" sz="5000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Summary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56323" y="2107150"/>
            <a:ext cx="12331381" cy="147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E-commerce to rise to </a:t>
            </a:r>
            <a:r>
              <a:rPr lang="en-US" sz="4200" b="1" dirty="0">
                <a:solidFill>
                  <a:srgbClr val="69542D"/>
                </a:solidFill>
                <a:latin typeface="Now Bold"/>
                <a:ea typeface="Now Bold"/>
                <a:cs typeface="Now Bold"/>
                <a:sym typeface="Now Bold"/>
              </a:rPr>
              <a:t>50% of global retail sales</a:t>
            </a:r>
            <a:r>
              <a:rPr lang="en-US" sz="4200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 by 2030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29109" y="4408646"/>
            <a:ext cx="12331381" cy="146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Social media </a:t>
            </a:r>
            <a:r>
              <a:rPr lang="en-US" sz="4199" b="1" dirty="0">
                <a:solidFill>
                  <a:srgbClr val="69542D"/>
                </a:solidFill>
                <a:latin typeface="Now Bold"/>
                <a:ea typeface="Now Bold"/>
                <a:cs typeface="Now Bold"/>
                <a:sym typeface="Now Bold"/>
              </a:rPr>
              <a:t>presence is critical</a:t>
            </a:r>
            <a:r>
              <a:rPr lang="en-US" sz="4199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 to gaining new customers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12779" y="6705381"/>
            <a:ext cx="12331381" cy="147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BAPE margins at risk as high </a:t>
            </a:r>
            <a:r>
              <a:rPr lang="en-US" sz="4199" b="1" dirty="0">
                <a:solidFill>
                  <a:srgbClr val="69542D"/>
                </a:solidFill>
                <a:latin typeface="Now Bold"/>
                <a:ea typeface="Now Bold"/>
                <a:cs typeface="Now Bold"/>
                <a:sym typeface="Now Bold"/>
              </a:rPr>
              <a:t>tariff hikes loom</a:t>
            </a:r>
            <a:r>
              <a:rPr lang="en-US" sz="4199" dirty="0">
                <a:solidFill>
                  <a:srgbClr val="69542D"/>
                </a:solidFill>
                <a:latin typeface="Now"/>
                <a:ea typeface="Now"/>
                <a:cs typeface="Now"/>
                <a:sym typeface="Now"/>
              </a:rPr>
              <a:t> amid tight</a:t>
            </a:r>
            <a:r>
              <a:rPr lang="en-US" sz="4199" b="1" dirty="0">
                <a:solidFill>
                  <a:srgbClr val="69542D"/>
                </a:solidFill>
                <a:latin typeface="Now Bold"/>
                <a:ea typeface="Now Bold"/>
                <a:cs typeface="Now Bold"/>
                <a:sym typeface="Now Bold"/>
              </a:rPr>
              <a:t> 2024 US 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9834" y="-173538"/>
            <a:ext cx="9976738" cy="10574837"/>
            <a:chOff x="0" y="0"/>
            <a:chExt cx="2546349" cy="27097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6349" cy="2709751"/>
            </a:xfrm>
            <a:custGeom>
              <a:avLst/>
              <a:gdLst/>
              <a:ahLst/>
              <a:cxnLst/>
              <a:rect l="l" t="t" r="r" b="b"/>
              <a:pathLst>
                <a:path w="2546349" h="2709751">
                  <a:moveTo>
                    <a:pt x="0" y="0"/>
                  </a:moveTo>
                  <a:lnTo>
                    <a:pt x="2546349" y="0"/>
                  </a:lnTo>
                  <a:lnTo>
                    <a:pt x="2546349" y="2709751"/>
                  </a:lnTo>
                  <a:lnTo>
                    <a:pt x="0" y="2709751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546349" cy="2852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Executive </a:t>
              </a:r>
            </a:p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4633" y="696921"/>
            <a:ext cx="16230600" cy="8893157"/>
            <a:chOff x="0" y="0"/>
            <a:chExt cx="21640800" cy="11857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9783257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928404" y="3602971"/>
            <a:ext cx="8898475" cy="4215056"/>
          </a:xfrm>
          <a:custGeom>
            <a:avLst/>
            <a:gdLst/>
            <a:ahLst/>
            <a:cxnLst/>
            <a:rect l="l" t="t" r="r" b="b"/>
            <a:pathLst>
              <a:path w="8898475" h="4215056">
                <a:moveTo>
                  <a:pt x="0" y="0"/>
                </a:moveTo>
                <a:lnTo>
                  <a:pt x="8898474" y="0"/>
                </a:lnTo>
                <a:lnTo>
                  <a:pt x="8898474" y="4215056"/>
                </a:lnTo>
                <a:lnTo>
                  <a:pt x="0" y="4215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8" r="-2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144000" y="620721"/>
            <a:ext cx="8351233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E-COMMERCE TO RISE TO 50% OF ALL GLOBAL RETAIL SALES BY 2030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3813" y="1533526"/>
            <a:ext cx="7543252" cy="142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1643" lvl="1" indent="-295821" algn="l">
              <a:lnSpc>
                <a:spcPts val="3836"/>
              </a:lnSpc>
              <a:buFont typeface="Arial"/>
              <a:buChar char="•"/>
            </a:pPr>
            <a:r>
              <a:rPr lang="en-US" sz="274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Represents strong </a:t>
            </a:r>
            <a:r>
              <a:rPr lang="en-US" sz="2740" b="1" dirty="0">
                <a:solidFill>
                  <a:srgbClr val="4235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opportunity to grow</a:t>
            </a:r>
            <a:r>
              <a:rPr lang="en-US" sz="274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 BAPE e-commerce operations and ride the wave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3812" y="3766371"/>
            <a:ext cx="8026424" cy="941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1639" lvl="1" indent="-295820" algn="l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Simultaneously represents a </a:t>
            </a:r>
            <a:r>
              <a:rPr lang="en-US" sz="2740" b="1">
                <a:solidFill>
                  <a:srgbClr val="4235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threat</a:t>
            </a:r>
            <a:r>
              <a:rPr lang="en-US" sz="274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 to BAPE’s current limited stores strategy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812" y="5517772"/>
            <a:ext cx="7939871" cy="1921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1640" lvl="1" indent="-295820" algn="l">
              <a:lnSpc>
                <a:spcPts val="3836"/>
              </a:lnSpc>
              <a:buFont typeface="Arial"/>
              <a:buChar char="•"/>
            </a:pPr>
            <a:r>
              <a:rPr lang="en-US" sz="274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With </a:t>
            </a:r>
            <a:r>
              <a:rPr lang="en-US" sz="2740" b="1" dirty="0">
                <a:solidFill>
                  <a:srgbClr val="4235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competitors</a:t>
            </a:r>
            <a:r>
              <a:rPr lang="en-US" sz="274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 like Supreme and Off-White prioritizing e-commerce, </a:t>
            </a:r>
            <a:r>
              <a:rPr lang="en-US" sz="2740" b="1" dirty="0">
                <a:solidFill>
                  <a:srgbClr val="4235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strong online presence</a:t>
            </a:r>
            <a:r>
              <a:rPr lang="en-US" sz="274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 is crucial for BAPE to stay competitive and capture market share.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8571" y="8901839"/>
            <a:ext cx="8619833" cy="553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2024, E-commerce outlook: a leap to 34% of US retail, Poonam Goyal and Sydney Goodman, Accessed October 22, 2024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8571" y="9561504"/>
            <a:ext cx="8220447" cy="553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Bloomberg Finance LP, “BI Forecast - Retail Sales.” Excel File, Accessed October 22,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6921"/>
            <a:ext cx="16230600" cy="8893157"/>
            <a:chOff x="0" y="0"/>
            <a:chExt cx="21640800" cy="11857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9783257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5903" y="2812715"/>
            <a:ext cx="5776820" cy="5220399"/>
            <a:chOff x="0" y="0"/>
            <a:chExt cx="1365278" cy="1374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5278" cy="1374920"/>
            </a:xfrm>
            <a:custGeom>
              <a:avLst/>
              <a:gdLst/>
              <a:ahLst/>
              <a:cxnLst/>
              <a:rect l="l" t="t" r="r" b="b"/>
              <a:pathLst>
                <a:path w="1365278" h="1374920">
                  <a:moveTo>
                    <a:pt x="0" y="0"/>
                  </a:moveTo>
                  <a:lnTo>
                    <a:pt x="1365278" y="0"/>
                  </a:lnTo>
                  <a:lnTo>
                    <a:pt x="1365278" y="1374920"/>
                  </a:lnTo>
                  <a:lnTo>
                    <a:pt x="0" y="1374920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365278" cy="1441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2048" y="2812715"/>
            <a:ext cx="5180850" cy="3204274"/>
            <a:chOff x="0" y="0"/>
            <a:chExt cx="4923432" cy="30450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23432" cy="3045065"/>
            </a:xfrm>
            <a:custGeom>
              <a:avLst/>
              <a:gdLst/>
              <a:ahLst/>
              <a:cxnLst/>
              <a:rect l="l" t="t" r="r" b="b"/>
              <a:pathLst>
                <a:path w="4923432" h="3045065">
                  <a:moveTo>
                    <a:pt x="0" y="0"/>
                  </a:moveTo>
                  <a:lnTo>
                    <a:pt x="3916098" y="0"/>
                  </a:lnTo>
                  <a:lnTo>
                    <a:pt x="4923432" y="1128876"/>
                  </a:lnTo>
                  <a:lnTo>
                    <a:pt x="4923432" y="3045065"/>
                  </a:lnTo>
                  <a:lnTo>
                    <a:pt x="0" y="3045065"/>
                  </a:lnTo>
                  <a:close/>
                </a:path>
              </a:pathLst>
            </a:custGeom>
            <a:blipFill>
              <a:blip r:embed="rId4"/>
              <a:stretch>
                <a:fillRect t="-3861" b="-38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87298" y="6327992"/>
            <a:ext cx="2556012" cy="1479292"/>
          </a:xfrm>
          <a:custGeom>
            <a:avLst/>
            <a:gdLst/>
            <a:ahLst/>
            <a:cxnLst/>
            <a:rect l="l" t="t" r="r" b="b"/>
            <a:pathLst>
              <a:path w="2556012" h="1479292">
                <a:moveTo>
                  <a:pt x="0" y="0"/>
                </a:moveTo>
                <a:lnTo>
                  <a:pt x="2556012" y="0"/>
                </a:lnTo>
                <a:lnTo>
                  <a:pt x="2556012" y="1479292"/>
                </a:lnTo>
                <a:lnTo>
                  <a:pt x="0" y="1479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92942" y="451618"/>
            <a:ext cx="14902115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9"/>
              </a:lnSpc>
            </a:pPr>
            <a:r>
              <a:rPr lang="en-US" sz="6078" b="1" dirty="0">
                <a:solidFill>
                  <a:srgbClr val="826733"/>
                </a:solidFill>
                <a:latin typeface="Inter Bold"/>
                <a:ea typeface="Inter Bold"/>
                <a:cs typeface="Inter Bold"/>
                <a:sym typeface="Inter Bold"/>
              </a:rPr>
              <a:t>SOCIAL MEDIA PRESENCE IS CRITICAL TO GAINING NEW 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2862" y="6014168"/>
            <a:ext cx="10514886" cy="105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4249"/>
              </a:lnSpc>
              <a:buFont typeface="Arial"/>
              <a:buChar char="•"/>
            </a:pPr>
            <a:r>
              <a:rPr lang="en-US" sz="2499" dirty="0">
                <a:solidFill>
                  <a:srgbClr val="42351C"/>
                </a:solidFill>
                <a:latin typeface="Poppins"/>
                <a:ea typeface="Poppins"/>
                <a:cs typeface="Poppins"/>
                <a:sym typeface="Poppins"/>
              </a:rPr>
              <a:t>Urban Outfitters grew customer base by </a:t>
            </a:r>
            <a:r>
              <a:rPr lang="en-US" sz="2499" b="1" dirty="0">
                <a:solidFill>
                  <a:srgbClr val="42351C"/>
                </a:solidFill>
                <a:latin typeface="Poppins Bold"/>
                <a:ea typeface="Poppins Bold"/>
                <a:cs typeface="Poppins Bold"/>
                <a:sym typeface="Poppins Bold"/>
              </a:rPr>
              <a:t>19%</a:t>
            </a:r>
            <a:r>
              <a:rPr lang="en-US" sz="2499" dirty="0">
                <a:solidFill>
                  <a:srgbClr val="42351C"/>
                </a:solidFill>
                <a:latin typeface="Poppins"/>
                <a:ea typeface="Poppins"/>
                <a:cs typeface="Poppins"/>
                <a:sym typeface="Poppins"/>
              </a:rPr>
              <a:t> after successful TikTok campaign in 2023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221481" y="2812715"/>
            <a:ext cx="3214367" cy="1318895"/>
            <a:chOff x="0" y="0"/>
            <a:chExt cx="846582" cy="3473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6582" cy="347363"/>
            </a:xfrm>
            <a:custGeom>
              <a:avLst/>
              <a:gdLst/>
              <a:ahLst/>
              <a:cxnLst/>
              <a:rect l="l" t="t" r="r" b="b"/>
              <a:pathLst>
                <a:path w="846582" h="347363">
                  <a:moveTo>
                    <a:pt x="0" y="0"/>
                  </a:moveTo>
                  <a:lnTo>
                    <a:pt x="846582" y="0"/>
                  </a:lnTo>
                  <a:lnTo>
                    <a:pt x="846582" y="347363"/>
                  </a:lnTo>
                  <a:lnTo>
                    <a:pt x="0" y="347363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846582" cy="34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84%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65607" y="2812715"/>
            <a:ext cx="4248539" cy="1318895"/>
            <a:chOff x="0" y="0"/>
            <a:chExt cx="1118957" cy="3473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8957" cy="347363"/>
            </a:xfrm>
            <a:custGeom>
              <a:avLst/>
              <a:gdLst/>
              <a:ahLst/>
              <a:cxnLst/>
              <a:rect l="l" t="t" r="r" b="b"/>
              <a:pathLst>
                <a:path w="1118957" h="347363">
                  <a:moveTo>
                    <a:pt x="0" y="0"/>
                  </a:moveTo>
                  <a:lnTo>
                    <a:pt x="1118957" y="0"/>
                  </a:lnTo>
                  <a:lnTo>
                    <a:pt x="1118957" y="347363"/>
                  </a:lnTo>
                  <a:lnTo>
                    <a:pt x="0" y="347363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118957" cy="34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145 Minutes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221481" y="4277283"/>
            <a:ext cx="3214367" cy="1064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24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of people 18-29 years old use social media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5607" y="4277283"/>
            <a:ext cx="4248539" cy="1041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23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average time a person spends on social media per day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744414" y="7352297"/>
            <a:ext cx="10095974" cy="158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4249"/>
              </a:lnSpc>
              <a:buFont typeface="Arial"/>
              <a:buChar char="•"/>
            </a:pPr>
            <a:r>
              <a:rPr lang="en-US" sz="2499" dirty="0">
                <a:solidFill>
                  <a:srgbClr val="42351C"/>
                </a:solidFill>
                <a:latin typeface="Poppins"/>
                <a:ea typeface="Poppins"/>
                <a:cs typeface="Poppins"/>
                <a:sym typeface="Poppins"/>
              </a:rPr>
              <a:t>Levi Strauss launched a global campaign across Instagram, TikTok,  and YouTube inviting viewers to join in - aiding US market share in Q1 2024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27104" y="9629002"/>
            <a:ext cx="651337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Forbes Advisor. “Social Media Statistics and Facts (2023).” Forbes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27104" y="9932085"/>
            <a:ext cx="1314553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2024, TikTok, Instagram, YouTube, Critical to Gain Customers, Poonam Goyal and Sydney Goodman, Accessed October 22,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696921"/>
            <a:ext cx="16230600" cy="8893157"/>
            <a:chOff x="0" y="0"/>
            <a:chExt cx="21640800" cy="11857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9783257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99579" y="3590585"/>
            <a:ext cx="5943266" cy="4227921"/>
            <a:chOff x="0" y="0"/>
            <a:chExt cx="1105656" cy="1113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5656" cy="1113465"/>
            </a:xfrm>
            <a:custGeom>
              <a:avLst/>
              <a:gdLst/>
              <a:ahLst/>
              <a:cxnLst/>
              <a:rect l="l" t="t" r="r" b="b"/>
              <a:pathLst>
                <a:path w="1105656" h="1113465">
                  <a:moveTo>
                    <a:pt x="0" y="0"/>
                  </a:moveTo>
                  <a:lnTo>
                    <a:pt x="1105656" y="0"/>
                  </a:lnTo>
                  <a:lnTo>
                    <a:pt x="1105656" y="1113465"/>
                  </a:lnTo>
                  <a:lnTo>
                    <a:pt x="0" y="1113465"/>
                  </a:lnTo>
                  <a:close/>
                </a:path>
              </a:pathLst>
            </a:custGeom>
            <a:solidFill>
              <a:srgbClr val="FECC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105656" cy="118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flipH="1">
            <a:off x="12610378" y="3201579"/>
            <a:ext cx="5352883" cy="4227921"/>
            <a:chOff x="0" y="0"/>
            <a:chExt cx="4923432" cy="39850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23432" cy="3985068"/>
            </a:xfrm>
            <a:custGeom>
              <a:avLst/>
              <a:gdLst/>
              <a:ahLst/>
              <a:cxnLst/>
              <a:rect l="l" t="t" r="r" b="b"/>
              <a:pathLst>
                <a:path w="4923432" h="3985068">
                  <a:moveTo>
                    <a:pt x="0" y="0"/>
                  </a:moveTo>
                  <a:lnTo>
                    <a:pt x="3916098" y="0"/>
                  </a:lnTo>
                  <a:lnTo>
                    <a:pt x="4923432" y="1477357"/>
                  </a:lnTo>
                  <a:lnTo>
                    <a:pt x="4923432" y="3985068"/>
                  </a:lnTo>
                  <a:lnTo>
                    <a:pt x="0" y="3985068"/>
                  </a:lnTo>
                  <a:close/>
                </a:path>
              </a:pathLst>
            </a:custGeom>
            <a:blipFill>
              <a:blip r:embed="rId4"/>
              <a:stretch>
                <a:fillRect l="-10743" r="-107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66225" y="647768"/>
            <a:ext cx="1574936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69542D"/>
                </a:solidFill>
                <a:latin typeface="Inter Bold"/>
                <a:ea typeface="Inter Bold"/>
                <a:cs typeface="Inter Bold"/>
                <a:sym typeface="Inter Bold"/>
              </a:rPr>
              <a:t>BAPE MARGINS AT RISK AS TARIFF HIKES LOOM AMID TIGHT 2024 US ELECTION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45488" y="8106703"/>
            <a:ext cx="13790833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42351C"/>
                </a:solidFill>
                <a:latin typeface="Inter"/>
                <a:ea typeface="Inter"/>
                <a:cs typeface="Inter"/>
                <a:sym typeface="Inter"/>
              </a:rPr>
              <a:t>Because the US makes up </a:t>
            </a:r>
            <a:r>
              <a:rPr lang="en-US" sz="3000" b="1" dirty="0">
                <a:solidFill>
                  <a:srgbClr val="42351C"/>
                </a:solidFill>
                <a:latin typeface="Inter Bold"/>
                <a:ea typeface="Inter Bold"/>
                <a:cs typeface="Inter Bold"/>
                <a:sym typeface="Inter Bold"/>
              </a:rPr>
              <a:t>33%</a:t>
            </a:r>
            <a:r>
              <a:rPr lang="en-US" sz="3000" dirty="0">
                <a:solidFill>
                  <a:srgbClr val="42351C"/>
                </a:solidFill>
                <a:latin typeface="Inter"/>
                <a:ea typeface="Inter"/>
                <a:cs typeface="Inter"/>
                <a:sym typeface="Inter"/>
              </a:rPr>
              <a:t> of Net BAPE sales margins are more exposed to potential tariff hikes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70498" y="9561504"/>
            <a:ext cx="1114700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2024, US Presidential Election Impact on Tariffs, Poonam Goyal and Sydney Goodman, Accessed October 22, 2024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70498" y="9844714"/>
            <a:ext cx="875124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2024, North America apparel midyear outlook, Poonam Goyal, Accessed October 22, 2024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6D4F58-1A7E-F7DD-8083-32192F7759B6}"/>
              </a:ext>
            </a:extLst>
          </p:cNvPr>
          <p:cNvGrpSpPr/>
          <p:nvPr/>
        </p:nvGrpSpPr>
        <p:grpSpPr>
          <a:xfrm>
            <a:off x="6589768" y="3161061"/>
            <a:ext cx="5439482" cy="4657445"/>
            <a:chOff x="743117" y="3182530"/>
            <a:chExt cx="5439482" cy="4657445"/>
          </a:xfrm>
        </p:grpSpPr>
        <p:grpSp>
          <p:nvGrpSpPr>
            <p:cNvPr id="11" name="Group 11"/>
            <p:cNvGrpSpPr/>
            <p:nvPr/>
          </p:nvGrpSpPr>
          <p:grpSpPr>
            <a:xfrm>
              <a:off x="743117" y="3182530"/>
              <a:ext cx="5439482" cy="816582"/>
              <a:chOff x="-4068" y="-1417"/>
              <a:chExt cx="1245016" cy="21506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4068" y="3600"/>
                <a:ext cx="1245016" cy="210050"/>
              </a:xfrm>
              <a:custGeom>
                <a:avLst/>
                <a:gdLst/>
                <a:ahLst/>
                <a:cxnLst/>
                <a:rect l="l" t="t" r="r" b="b"/>
                <a:pathLst>
                  <a:path w="1245016" h="210050">
                    <a:moveTo>
                      <a:pt x="0" y="0"/>
                    </a:moveTo>
                    <a:lnTo>
                      <a:pt x="1245016" y="0"/>
                    </a:lnTo>
                    <a:lnTo>
                      <a:pt x="1245016" y="210050"/>
                    </a:lnTo>
                    <a:lnTo>
                      <a:pt x="0" y="210050"/>
                    </a:lnTo>
                    <a:close/>
                  </a:path>
                </a:pathLst>
              </a:custGeom>
              <a:solidFill>
                <a:srgbClr val="A6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-4068" y="-1417"/>
                <a:ext cx="1245016" cy="2150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r>
                  <a:rPr lang="en-US" sz="2899" b="1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Republican Victory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79910" y="4048265"/>
              <a:ext cx="5192921" cy="32476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59529" lvl="1" indent="-279764" algn="l">
                <a:lnSpc>
                  <a:spcPts val="4276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Tariffs likely to get</a:t>
              </a:r>
              <a:r>
                <a:rPr lang="en-US" sz="2000" b="1" dirty="0">
                  <a:solidFill>
                    <a:srgbClr val="4235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hiked</a:t>
              </a:r>
            </a:p>
            <a:p>
              <a:pPr marL="559529" lvl="1" indent="-279764" algn="l">
                <a:lnSpc>
                  <a:spcPts val="4276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Proposed tariffs include </a:t>
              </a:r>
              <a:r>
                <a:rPr lang="en-US" sz="2000" b="1" dirty="0">
                  <a:solidFill>
                    <a:srgbClr val="4235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60% on ALL goods</a:t>
              </a: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 imported from China</a:t>
              </a:r>
            </a:p>
            <a:p>
              <a:pPr marL="559529" lvl="1" indent="-279764" algn="l">
                <a:lnSpc>
                  <a:spcPts val="4276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BAPE’s products are </a:t>
              </a:r>
              <a:r>
                <a:rPr lang="en-US" sz="2000" b="1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manufactured in China</a:t>
              </a: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 and the parent company is </a:t>
              </a:r>
              <a:r>
                <a:rPr lang="en-US" sz="2000" b="1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based in Hong Kong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A262DBA-8EA3-C402-DB86-D308D2FB3A6F}"/>
                </a:ext>
              </a:extLst>
            </p:cNvPr>
            <p:cNvSpPr/>
            <p:nvPr/>
          </p:nvSpPr>
          <p:spPr>
            <a:xfrm>
              <a:off x="743117" y="3999113"/>
              <a:ext cx="5419018" cy="3840862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F48563-7145-998E-57DE-00FA349A184F}"/>
              </a:ext>
            </a:extLst>
          </p:cNvPr>
          <p:cNvGrpSpPr/>
          <p:nvPr/>
        </p:nvGrpSpPr>
        <p:grpSpPr>
          <a:xfrm>
            <a:off x="563655" y="3183253"/>
            <a:ext cx="5439481" cy="4627509"/>
            <a:chOff x="6674467" y="3212465"/>
            <a:chExt cx="5439481" cy="4627509"/>
          </a:xfrm>
        </p:grpSpPr>
        <p:sp>
          <p:nvSpPr>
            <p:cNvPr id="14" name="TextBox 14"/>
            <p:cNvSpPr txBox="1"/>
            <p:nvPr/>
          </p:nvSpPr>
          <p:spPr>
            <a:xfrm>
              <a:off x="6674467" y="4029047"/>
              <a:ext cx="5338610" cy="21448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59529" lvl="1" indent="-279764" algn="l">
                <a:lnSpc>
                  <a:spcPts val="4276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Tariffs likely to remain </a:t>
              </a:r>
              <a:r>
                <a:rPr lang="en-US" sz="2000" b="1" dirty="0">
                  <a:solidFill>
                    <a:srgbClr val="4235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unchanged</a:t>
              </a:r>
            </a:p>
            <a:p>
              <a:pPr marL="559529" lvl="1" indent="-279764" algn="l">
                <a:lnSpc>
                  <a:spcPts val="4276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Proposed tariff changes don’t impact apparel goods and are more targeted on resources like metals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674470" y="3212465"/>
              <a:ext cx="5439478" cy="797533"/>
              <a:chOff x="0" y="0"/>
              <a:chExt cx="1234313" cy="2100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34313" cy="210050"/>
              </a:xfrm>
              <a:custGeom>
                <a:avLst/>
                <a:gdLst/>
                <a:ahLst/>
                <a:cxnLst/>
                <a:rect l="l" t="t" r="r" b="b"/>
                <a:pathLst>
                  <a:path w="1234313" h="210050">
                    <a:moveTo>
                      <a:pt x="0" y="0"/>
                    </a:moveTo>
                    <a:lnTo>
                      <a:pt x="1234313" y="0"/>
                    </a:lnTo>
                    <a:lnTo>
                      <a:pt x="1234313" y="210050"/>
                    </a:lnTo>
                    <a:lnTo>
                      <a:pt x="0" y="210050"/>
                    </a:lnTo>
                    <a:close/>
                  </a:path>
                </a:pathLst>
              </a:custGeom>
              <a:solidFill>
                <a:schemeClr val="tx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2472"/>
                <a:ext cx="1234313" cy="2075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9"/>
                  </a:lnSpc>
                </a:pPr>
                <a:r>
                  <a:rPr lang="en-US" sz="2899" b="1" dirty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Democratic</a:t>
                </a:r>
                <a:r>
                  <a:rPr lang="en-US" sz="2899" b="1" dirty="0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2899" b="1" dirty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Victory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CE188C5-9D86-A717-560F-4421349DC632}"/>
                </a:ext>
              </a:extLst>
            </p:cNvPr>
            <p:cNvSpPr/>
            <p:nvPr/>
          </p:nvSpPr>
          <p:spPr>
            <a:xfrm>
              <a:off x="6680397" y="3999112"/>
              <a:ext cx="5419019" cy="384086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6921"/>
            <a:ext cx="16230600" cy="8893157"/>
            <a:chOff x="0" y="0"/>
            <a:chExt cx="21640800" cy="11857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9783257" y="0"/>
              <a:ext cx="11857543" cy="11857543"/>
            </a:xfrm>
            <a:custGeom>
              <a:avLst/>
              <a:gdLst/>
              <a:ahLst/>
              <a:cxnLst/>
              <a:rect l="l" t="t" r="r" b="b"/>
              <a:pathLst>
                <a:path w="11857543" h="11857543">
                  <a:moveTo>
                    <a:pt x="0" y="0"/>
                  </a:moveTo>
                  <a:lnTo>
                    <a:pt x="11857543" y="0"/>
                  </a:lnTo>
                  <a:lnTo>
                    <a:pt x="11857543" y="11857543"/>
                  </a:lnTo>
                  <a:lnTo>
                    <a:pt x="0" y="1185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2208740"/>
            <a:ext cx="5262597" cy="1519019"/>
            <a:chOff x="0" y="0"/>
            <a:chExt cx="1386034" cy="4000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6034" cy="400071"/>
            </a:xfrm>
            <a:custGeom>
              <a:avLst/>
              <a:gdLst/>
              <a:ahLst/>
              <a:cxnLst/>
              <a:rect l="l" t="t" r="r" b="b"/>
              <a:pathLst>
                <a:path w="1386034" h="400071">
                  <a:moveTo>
                    <a:pt x="0" y="0"/>
                  </a:moveTo>
                  <a:lnTo>
                    <a:pt x="1386034" y="0"/>
                  </a:lnTo>
                  <a:lnTo>
                    <a:pt x="1386034" y="400071"/>
                  </a:lnTo>
                  <a:lnTo>
                    <a:pt x="0" y="400071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386034" cy="40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Develop E-Commerce Infrastructure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2734" y="2968249"/>
            <a:ext cx="5262597" cy="1519019"/>
            <a:chOff x="0" y="0"/>
            <a:chExt cx="1386034" cy="4000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6034" cy="400071"/>
            </a:xfrm>
            <a:custGeom>
              <a:avLst/>
              <a:gdLst/>
              <a:ahLst/>
              <a:cxnLst/>
              <a:rect l="l" t="t" r="r" b="b"/>
              <a:pathLst>
                <a:path w="1386034" h="400071">
                  <a:moveTo>
                    <a:pt x="0" y="0"/>
                  </a:moveTo>
                  <a:lnTo>
                    <a:pt x="1386034" y="0"/>
                  </a:lnTo>
                  <a:lnTo>
                    <a:pt x="1386034" y="400071"/>
                  </a:lnTo>
                  <a:lnTo>
                    <a:pt x="0" y="400071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386034" cy="40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Foster Social Media Presence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96703" y="2208740"/>
            <a:ext cx="5262597" cy="1519019"/>
            <a:chOff x="0" y="0"/>
            <a:chExt cx="1386034" cy="4000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6034" cy="400071"/>
            </a:xfrm>
            <a:custGeom>
              <a:avLst/>
              <a:gdLst/>
              <a:ahLst/>
              <a:cxnLst/>
              <a:rect l="l" t="t" r="r" b="b"/>
              <a:pathLst>
                <a:path w="1386034" h="400071">
                  <a:moveTo>
                    <a:pt x="0" y="0"/>
                  </a:moveTo>
                  <a:lnTo>
                    <a:pt x="1386034" y="0"/>
                  </a:lnTo>
                  <a:lnTo>
                    <a:pt x="1386034" y="400071"/>
                  </a:lnTo>
                  <a:lnTo>
                    <a:pt x="0" y="400071"/>
                  </a:lnTo>
                  <a:close/>
                </a:path>
              </a:pathLst>
            </a:custGeom>
            <a:solidFill>
              <a:srgbClr val="FCB7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386034" cy="40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42351C"/>
                  </a:solidFill>
                  <a:latin typeface="Poppins"/>
                  <a:ea typeface="Poppins"/>
                  <a:cs typeface="Poppins"/>
                  <a:sym typeface="Poppins"/>
                </a:rPr>
                <a:t>Insulate tariff impacts by outsourcing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3727759"/>
            <a:ext cx="5262597" cy="4502635"/>
            <a:chOff x="0" y="0"/>
            <a:chExt cx="1386034" cy="11858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86034" cy="1185879"/>
            </a:xfrm>
            <a:custGeom>
              <a:avLst/>
              <a:gdLst/>
              <a:ahLst/>
              <a:cxnLst/>
              <a:rect l="l" t="t" r="r" b="b"/>
              <a:pathLst>
                <a:path w="1386034" h="1185879">
                  <a:moveTo>
                    <a:pt x="0" y="0"/>
                  </a:moveTo>
                  <a:lnTo>
                    <a:pt x="1386034" y="0"/>
                  </a:lnTo>
                  <a:lnTo>
                    <a:pt x="1386034" y="1185879"/>
                  </a:lnTo>
                  <a:lnTo>
                    <a:pt x="0" y="118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267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386034" cy="1252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42361" y="601671"/>
            <a:ext cx="1640327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826733"/>
                </a:solidFill>
                <a:latin typeface="Inter Bold"/>
                <a:ea typeface="Inter Bold"/>
                <a:cs typeface="Inter Bold"/>
                <a:sym typeface="Inter Bold"/>
              </a:rPr>
              <a:t>NEXT STEPS TO TAKE BY 2030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22734" y="4487268"/>
            <a:ext cx="5262597" cy="4502635"/>
            <a:chOff x="0" y="0"/>
            <a:chExt cx="1386034" cy="118587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6034" cy="1185879"/>
            </a:xfrm>
            <a:custGeom>
              <a:avLst/>
              <a:gdLst/>
              <a:ahLst/>
              <a:cxnLst/>
              <a:rect l="l" t="t" r="r" b="b"/>
              <a:pathLst>
                <a:path w="1386034" h="1185879">
                  <a:moveTo>
                    <a:pt x="0" y="0"/>
                  </a:moveTo>
                  <a:lnTo>
                    <a:pt x="1386034" y="0"/>
                  </a:lnTo>
                  <a:lnTo>
                    <a:pt x="1386034" y="1185879"/>
                  </a:lnTo>
                  <a:lnTo>
                    <a:pt x="0" y="118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267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386034" cy="1252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94374" y="3727759"/>
            <a:ext cx="5262597" cy="4502635"/>
            <a:chOff x="0" y="0"/>
            <a:chExt cx="1386034" cy="11858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6034" cy="1185879"/>
            </a:xfrm>
            <a:custGeom>
              <a:avLst/>
              <a:gdLst/>
              <a:ahLst/>
              <a:cxnLst/>
              <a:rect l="l" t="t" r="r" b="b"/>
              <a:pathLst>
                <a:path w="1386034" h="1185879">
                  <a:moveTo>
                    <a:pt x="0" y="0"/>
                  </a:moveTo>
                  <a:lnTo>
                    <a:pt x="1386034" y="0"/>
                  </a:lnTo>
                  <a:lnTo>
                    <a:pt x="1386034" y="1185879"/>
                  </a:lnTo>
                  <a:lnTo>
                    <a:pt x="0" y="1185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267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386034" cy="1252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40072" y="3883215"/>
            <a:ext cx="4839853" cy="413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Don’t want to miss the e-commerce </a:t>
            </a:r>
            <a:r>
              <a:rPr lang="en-US" sz="2804" b="1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“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wave”</a:t>
            </a:r>
          </a:p>
          <a:p>
            <a:pPr algn="l">
              <a:lnSpc>
                <a:spcPts val="700"/>
              </a:lnSpc>
            </a:pPr>
            <a:endParaRPr lang="en-US" sz="2804" b="1" dirty="0">
              <a:solidFill>
                <a:srgbClr val="42351C"/>
              </a:solidFill>
              <a:latin typeface="Canva Sans Bold"/>
              <a:ea typeface="Canva Sans Bold"/>
              <a:cs typeface="Al Nile" pitchFamily="2" charset="-78"/>
              <a:sym typeface="Canva Sans Bold"/>
            </a:endParaRPr>
          </a:p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Expanding our e-commerce operations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now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is critical</a:t>
            </a:r>
          </a:p>
          <a:p>
            <a:pPr algn="l">
              <a:lnSpc>
                <a:spcPts val="700"/>
              </a:lnSpc>
            </a:pPr>
            <a:endParaRPr lang="en-US" sz="2804" dirty="0">
              <a:solidFill>
                <a:srgbClr val="42351C"/>
              </a:solidFill>
              <a:latin typeface="Canva Sans"/>
              <a:ea typeface="Canva Sans"/>
              <a:cs typeface="Al Nile" pitchFamily="2" charset="-78"/>
              <a:sym typeface="Canva Sans"/>
            </a:endParaRPr>
          </a:p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Develop strategies that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boost availability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but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don’t damage scarcity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34106" y="4642724"/>
            <a:ext cx="4839853" cy="413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Advertise where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people are living</a:t>
            </a:r>
          </a:p>
          <a:p>
            <a:pPr algn="l">
              <a:lnSpc>
                <a:spcPts val="700"/>
              </a:lnSpc>
            </a:pPr>
            <a:endParaRPr lang="en-US" sz="2804" b="1" dirty="0">
              <a:solidFill>
                <a:srgbClr val="42351C"/>
              </a:solidFill>
              <a:latin typeface="Canva Sans Bold"/>
              <a:ea typeface="Canva Sans Bold"/>
              <a:cs typeface="Al Nile" pitchFamily="2" charset="-78"/>
              <a:sym typeface="Canva Sans Bold"/>
            </a:endParaRPr>
          </a:p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Create a community on social media that will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expand brand power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and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customer base</a:t>
            </a:r>
          </a:p>
          <a:p>
            <a:pPr algn="l">
              <a:lnSpc>
                <a:spcPts val="700"/>
              </a:lnSpc>
            </a:pPr>
            <a:endParaRPr lang="en-US" sz="2804" b="1" dirty="0">
              <a:solidFill>
                <a:srgbClr val="42351C"/>
              </a:solidFill>
              <a:latin typeface="Canva Sans Bold"/>
              <a:ea typeface="Canva Sans Bold"/>
              <a:cs typeface="Al Nile" pitchFamily="2" charset="-78"/>
              <a:sym typeface="Canva Sans Bold"/>
            </a:endParaRPr>
          </a:p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Authentically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build loyal following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08075" y="3883215"/>
            <a:ext cx="4839853" cy="355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Plan now to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move production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out of China</a:t>
            </a:r>
          </a:p>
          <a:p>
            <a:pPr algn="l">
              <a:lnSpc>
                <a:spcPts val="700"/>
              </a:lnSpc>
            </a:pPr>
            <a:endParaRPr lang="en-US" sz="2804" dirty="0">
              <a:solidFill>
                <a:srgbClr val="42351C"/>
              </a:solidFill>
              <a:latin typeface="Canva Sans"/>
              <a:ea typeface="Canva Sans"/>
              <a:cs typeface="Al Nile" pitchFamily="2" charset="-78"/>
              <a:sym typeface="Canva Sans"/>
            </a:endParaRPr>
          </a:p>
          <a:p>
            <a:pPr marL="605590" lvl="1" indent="-302795" algn="l">
              <a:lnSpc>
                <a:spcPts val="3926"/>
              </a:lnSpc>
              <a:buFont typeface="Arial"/>
              <a:buChar char="•"/>
            </a:pP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Leverage new e-commerce and social media strategies to </a:t>
            </a:r>
            <a:r>
              <a:rPr lang="en-US" sz="2804" b="1" dirty="0">
                <a:solidFill>
                  <a:srgbClr val="42351C"/>
                </a:solidFill>
                <a:latin typeface="Canva Sans Bold"/>
                <a:ea typeface="Canva Sans Bold"/>
                <a:cs typeface="Al Nile" pitchFamily="2" charset="-78"/>
                <a:sym typeface="Canva Sans Bold"/>
              </a:rPr>
              <a:t>access new customers</a:t>
            </a:r>
            <a:r>
              <a:rPr lang="en-US" sz="2804" dirty="0">
                <a:solidFill>
                  <a:srgbClr val="42351C"/>
                </a:solidFill>
                <a:latin typeface="Canva Sans"/>
                <a:ea typeface="Canva Sans"/>
                <a:cs typeface="Al Nile" pitchFamily="2" charset="-78"/>
                <a:sym typeface="Canva Sans"/>
              </a:rPr>
              <a:t> outside of the 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91722" y="8438147"/>
            <a:ext cx="1135157" cy="1640305"/>
          </a:xfrm>
          <a:custGeom>
            <a:avLst/>
            <a:gdLst/>
            <a:ahLst/>
            <a:cxnLst/>
            <a:rect l="l" t="t" r="r" b="b"/>
            <a:pathLst>
              <a:path w="1135157" h="1640305">
                <a:moveTo>
                  <a:pt x="0" y="0"/>
                </a:moveTo>
                <a:lnTo>
                  <a:pt x="1135156" y="0"/>
                </a:lnTo>
                <a:lnTo>
                  <a:pt x="1135156" y="1640306"/>
                </a:lnTo>
                <a:lnTo>
                  <a:pt x="0" y="1640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369" r="-785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42361" y="601671"/>
            <a:ext cx="1640327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826733"/>
                </a:solidFill>
                <a:latin typeface="Inter Bold"/>
                <a:ea typeface="Inter Bold"/>
                <a:cs typeface="Inter Bold"/>
                <a:sym typeface="Inter Bold"/>
              </a:rPr>
              <a:t>ENDNOTES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698723"/>
            <a:ext cx="17030700" cy="7219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2024, North America apparel midyear outlook, Poonam Goyal, Accessed October 22, 2024</a:t>
            </a:r>
          </a:p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Forbes Advisor. “Social Media Statistics and Facts (2023).” Forbes. Last modified August 25, 2023. https://www.forbes.com/advisor/business/social-media-statistics/#source.</a:t>
            </a:r>
          </a:p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2024, US Presidential Election Impact on Tariffs, Poonam Goyal and Sydney Goodman, Accessed October 22, 2024</a:t>
            </a:r>
          </a:p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2024, E-commerce outlook: a leap to 34% of US retail, Poonam Goyal and Sydney Goodman, Accessed October 22, 2024</a:t>
            </a:r>
          </a:p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Bloomberg Finance LP, “BI Forecast - Retail Sales.” Excel File, Accessed October 22, 2024</a:t>
            </a:r>
          </a:p>
          <a:p>
            <a:pPr marL="839217" lvl="1" indent="-514350" algn="l">
              <a:lnSpc>
                <a:spcPts val="5748"/>
              </a:lnSpc>
              <a:buAutoNum type="arabicPeriod"/>
            </a:pPr>
            <a:r>
              <a:rPr lang="en-US" sz="2800" dirty="0">
                <a:solidFill>
                  <a:srgbClr val="42351C"/>
                </a:solidFill>
                <a:latin typeface="Canva Sans"/>
                <a:ea typeface="Canva Sans"/>
                <a:cs typeface="Canva Sans"/>
                <a:sym typeface="Canva Sans"/>
              </a:rPr>
              <a:t>2024, TikTok, Instagram, YouTube, Critical to Gain Customers, Poonam Goyal and Sydney Goodman, Accessed October 22,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615</Words>
  <Application>Microsoft Macintosh PowerPoint</Application>
  <PresentationFormat>Custom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Poppins Bold</vt:lpstr>
      <vt:lpstr>Inter</vt:lpstr>
      <vt:lpstr>Inter Bold</vt:lpstr>
      <vt:lpstr>Arial</vt:lpstr>
      <vt:lpstr>Now</vt:lpstr>
      <vt:lpstr>Poppins</vt:lpstr>
      <vt:lpstr>Calibri</vt:lpstr>
      <vt:lpstr>Now Bold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Yellow Streetwear Fashion Presentation</dc:title>
  <cp:lastModifiedBy>Corbett, Grant</cp:lastModifiedBy>
  <cp:revision>20</cp:revision>
  <dcterms:created xsi:type="dcterms:W3CDTF">2006-08-16T00:00:00Z</dcterms:created>
  <dcterms:modified xsi:type="dcterms:W3CDTF">2026-01-30T19:33:21Z</dcterms:modified>
  <dc:identifier>DAGUW2NuZ74</dc:identifier>
</cp:coreProperties>
</file>