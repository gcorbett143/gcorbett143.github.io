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0"/>
  </p:notesMasterIdLst>
  <p:sldIdLst>
    <p:sldId id="310" r:id="rId2"/>
    <p:sldId id="257" r:id="rId3"/>
    <p:sldId id="301" r:id="rId4"/>
    <p:sldId id="300" r:id="rId5"/>
    <p:sldId id="299" r:id="rId6"/>
    <p:sldId id="281" r:id="rId7"/>
    <p:sldId id="290" r:id="rId8"/>
    <p:sldId id="305" r:id="rId9"/>
    <p:sldId id="282" r:id="rId10"/>
    <p:sldId id="287" r:id="rId11"/>
    <p:sldId id="277" r:id="rId12"/>
    <p:sldId id="297" r:id="rId13"/>
    <p:sldId id="308" r:id="rId14"/>
    <p:sldId id="283" r:id="rId15"/>
    <p:sldId id="304" r:id="rId16"/>
    <p:sldId id="303" r:id="rId17"/>
    <p:sldId id="309" r:id="rId18"/>
    <p:sldId id="288" r:id="rId19"/>
  </p:sldIdLst>
  <p:sldSz cx="18288000" cy="10287000"/>
  <p:notesSz cx="6858000" cy="9144000"/>
  <p:embeddedFontLst>
    <p:embeddedFont>
      <p:font typeface="Aptos Bold" panose="020B0004020202020204" pitchFamily="34" charset="0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2F7B88F-468D-EC0E-EB72-70EADE7D19AC}" name="Grant Corbett" initials="GC" userId="S::aucorbettg01@activeapparelgroup.com::f313b329-f474-491b-9c89-48e7ecc4b21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7"/>
    <p:restoredTop sz="94718"/>
  </p:normalViewPr>
  <p:slideViewPr>
    <p:cSldViewPr snapToGrid="0">
      <p:cViewPr varScale="1">
        <p:scale>
          <a:sx n="77" d="100"/>
          <a:sy n="77" d="100"/>
        </p:scale>
        <p:origin x="232" y="21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941582-2A2C-43BE-9708-A87747D6741A}" type="datetimeFigureOut">
              <a:rPr lang="en-US" smtClean="0"/>
              <a:t>11/13/25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B44C13-1081-442F-8A76-E9C27E0EB9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6506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4808BD-B3ED-ED83-D51C-059DE19DD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149FBC-4B94-EDE1-0C01-189910AE2E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E488C0-F074-8E0E-FC00-485EEDCF65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2C2E4-7D22-61D7-6B52-24E370258C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44C13-1081-442F-8A76-E9C27E0EB9F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58504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52B67C-EBD1-6717-A099-F2CD51DF6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4C1F15-6544-36D1-DE0F-7DFD6F38EE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1ED315-0DC7-0307-EAEB-0C31154701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32149ED-93B4-34E1-B079-8EE5E51333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44C13-1081-442F-8A76-E9C27E0EB9F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462981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ts val="4199"/>
              </a:lnSpc>
            </a:pP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FB44C13-1081-442F-8A76-E9C27E0EB9F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0852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11/13/25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emf"/><Relationship Id="rId4" Type="http://schemas.openxmlformats.org/officeDocument/2006/relationships/package" Target="../embeddings/Microsoft_Excel_Worksheet1.xlsx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package" Target="../embeddings/Microsoft_Excel_Worksheet2.xlsx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package" Target="../embeddings/Microsoft_Excel_Worksheet3.xlsx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A202E1-7204-11B1-4AAB-7C2A79E0BAEB}"/>
              </a:ext>
            </a:extLst>
          </p:cNvPr>
          <p:cNvSpPr txBox="1"/>
          <p:nvPr/>
        </p:nvSpPr>
        <p:spPr>
          <a:xfrm>
            <a:off x="1806497" y="885378"/>
            <a:ext cx="1467500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/>
              <a:t>Dear reader, </a:t>
            </a:r>
          </a:p>
          <a:p>
            <a:endParaRPr lang="en-US" sz="3200" dirty="0"/>
          </a:p>
          <a:p>
            <a:r>
              <a:rPr lang="en-US" sz="3200" dirty="0"/>
              <a:t>This is a strategy slide deck I contributed to while I was working in China. This was made in May of 2025 when the trade war with China had subsided from the 135% tariffs that had been in affect only a few weeks prior. Factory workers had just come back to work and the factory was nearly at full production. </a:t>
            </a:r>
          </a:p>
          <a:p>
            <a:endParaRPr lang="en-US" sz="3200" dirty="0"/>
          </a:p>
          <a:p>
            <a:r>
              <a:rPr lang="en-US" sz="3200" dirty="0"/>
              <a:t>This slide deck was presented to the board to determine a strategy for cultivating less exposure to the US market especially when the future remains uncertain.</a:t>
            </a:r>
          </a:p>
          <a:p>
            <a:endParaRPr lang="en-US" sz="3200" dirty="0"/>
          </a:p>
          <a:p>
            <a:r>
              <a:rPr lang="en-US" sz="3200" dirty="0"/>
              <a:t>I wanted to upload this deck to show my experience in working in high-pressure, high-stakes environment when sound analysis is critical to success.</a:t>
            </a:r>
          </a:p>
          <a:p>
            <a:endParaRPr lang="en-US" sz="3200" dirty="0"/>
          </a:p>
          <a:p>
            <a:r>
              <a:rPr lang="en-US" sz="3200" dirty="0"/>
              <a:t>While this is old information, I’ve redacted all potentially sensitive information.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BB0B43C-441D-5AA3-9E37-BDA3C4840D2A}"/>
              </a:ext>
            </a:extLst>
          </p:cNvPr>
          <p:cNvSpPr txBox="1"/>
          <p:nvPr/>
        </p:nvSpPr>
        <p:spPr>
          <a:xfrm>
            <a:off x="1806497" y="8221481"/>
            <a:ext cx="375735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ea typeface="Brush Script MT" panose="03060802040406070304" pitchFamily="66" charset="-122"/>
                <a:cs typeface="Arial" panose="020B0604020202020204" pitchFamily="34" charset="0"/>
              </a:rPr>
              <a:t>- Grant  W. Corbett</a:t>
            </a:r>
          </a:p>
        </p:txBody>
      </p:sp>
    </p:spTree>
    <p:extLst>
      <p:ext uri="{BB962C8B-B14F-4D97-AF65-F5344CB8AC3E}">
        <p14:creationId xmlns:p14="http://schemas.microsoft.com/office/powerpoint/2010/main" val="218233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2806">
            <a:off x="-7474" y="1126911"/>
            <a:ext cx="18302947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/>
          <p:cNvSpPr txBox="1"/>
          <p:nvPr/>
        </p:nvSpPr>
        <p:spPr>
          <a:xfrm>
            <a:off x="718954" y="336840"/>
            <a:ext cx="14112406" cy="379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9"/>
              </a:lnSpc>
            </a:pPr>
            <a:r>
              <a:rPr lang="en-US" sz="2823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Agenda</a:t>
            </a:r>
          </a:p>
        </p:txBody>
      </p:sp>
      <p:sp>
        <p:nvSpPr>
          <p:cNvPr id="8" name="Freeform 8" descr="A person in a sports garment  AI-generated content may be incorrect."/>
          <p:cNvSpPr/>
          <p:nvPr/>
        </p:nvSpPr>
        <p:spPr>
          <a:xfrm>
            <a:off x="579991" y="1374260"/>
            <a:ext cx="5451072" cy="8046009"/>
          </a:xfrm>
          <a:custGeom>
            <a:avLst/>
            <a:gdLst/>
            <a:ahLst/>
            <a:cxnLst/>
            <a:rect l="l" t="t" r="r" b="b"/>
            <a:pathLst>
              <a:path w="5451072" h="8046009">
                <a:moveTo>
                  <a:pt x="0" y="0"/>
                </a:moveTo>
                <a:lnTo>
                  <a:pt x="5451071" y="0"/>
                </a:lnTo>
                <a:lnTo>
                  <a:pt x="5451071" y="8046009"/>
                </a:lnTo>
                <a:lnTo>
                  <a:pt x="0" y="80460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7" t="-1322" r="-1395" b="-5022"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3625493"/>
              </p:ext>
            </p:extLst>
          </p:nvPr>
        </p:nvGraphicFramePr>
        <p:xfrm>
          <a:off x="6096000" y="1374260"/>
          <a:ext cx="11534588" cy="8046009"/>
        </p:xfrm>
        <a:graphic>
          <a:graphicData uri="http://schemas.openxmlformats.org/drawingml/2006/table">
            <a:tbl>
              <a:tblPr/>
              <a:tblGrid>
                <a:gridCol w="2025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9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6285">
                <a:tc>
                  <a:txBody>
                    <a:bodyPr/>
                    <a:lstStyle/>
                    <a:p>
                      <a:pPr algn="ctr">
                        <a:lnSpc>
                          <a:spcPts val="3388"/>
                        </a:lnSpc>
                        <a:defRPr/>
                      </a:pPr>
                      <a:r>
                        <a:rPr lang="en-US" sz="2823" b="1">
                          <a:solidFill>
                            <a:schemeClr val="tx1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Part 1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88"/>
                        </a:lnSpc>
                        <a:defRPr/>
                      </a:pPr>
                      <a:r>
                        <a:rPr lang="en-US" sz="2823" b="1">
                          <a:solidFill>
                            <a:srgbClr val="000000"/>
                          </a:solidFill>
                          <a:latin typeface="Aptos Bold"/>
                          <a:sym typeface="Aptos Bold"/>
                        </a:rPr>
                        <a:t>Problem Statement and Solution Options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285">
                <a:tc>
                  <a:txBody>
                    <a:bodyPr/>
                    <a:lstStyle/>
                    <a:p>
                      <a:pPr algn="ctr">
                        <a:lnSpc>
                          <a:spcPts val="3388"/>
                        </a:lnSpc>
                        <a:defRPr/>
                      </a:pPr>
                      <a:r>
                        <a:rPr lang="en-US" sz="2823" b="1">
                          <a:solidFill>
                            <a:srgbClr val="8C7458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Part 2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88"/>
                        </a:lnSpc>
                        <a:defRPr/>
                      </a:pPr>
                      <a:r>
                        <a:rPr lang="en-US" sz="2823" b="1">
                          <a:solidFill>
                            <a:srgbClr val="000000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Leased Lines (Pros + Cons)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6285">
                <a:tc>
                  <a:txBody>
                    <a:bodyPr/>
                    <a:lstStyle/>
                    <a:p>
                      <a:pPr algn="ctr">
                        <a:lnSpc>
                          <a:spcPts val="3388"/>
                        </a:lnSpc>
                        <a:defRPr/>
                      </a:pPr>
                      <a:r>
                        <a:rPr lang="en-US" sz="2823" b="1">
                          <a:solidFill>
                            <a:srgbClr val="8C7458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Part 3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88"/>
                        </a:lnSpc>
                        <a:defRPr/>
                      </a:pPr>
                      <a:r>
                        <a:rPr lang="en-US" sz="2823" b="1">
                          <a:solidFill>
                            <a:srgbClr val="000000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Commercial analysis of Leased Lines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87154">
                <a:tc>
                  <a:txBody>
                    <a:bodyPr/>
                    <a:lstStyle/>
                    <a:p>
                      <a:pPr algn="ctr">
                        <a:lnSpc>
                          <a:spcPts val="3388"/>
                        </a:lnSpc>
                        <a:defRPr/>
                      </a:pPr>
                      <a:r>
                        <a:rPr lang="en-US" sz="2823" b="1">
                          <a:solidFill>
                            <a:srgbClr val="8C7458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Part 4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88"/>
                        </a:lnSpc>
                        <a:defRPr/>
                      </a:pPr>
                      <a:r>
                        <a:rPr lang="en-US" sz="2823" b="1">
                          <a:solidFill>
                            <a:srgbClr val="000000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Further Considerations and Next Steps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1D607-31F0-71C6-AB1A-68A554E805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210BBF1C-AB57-46F5-8F0B-73CB93CFC580}"/>
              </a:ext>
            </a:extLst>
          </p:cNvPr>
          <p:cNvSpPr/>
          <p:nvPr/>
        </p:nvSpPr>
        <p:spPr>
          <a:xfrm>
            <a:off x="5" y="1223430"/>
            <a:ext cx="18307050" cy="1905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A7E5B88-CFAB-5223-7465-3854833E5205}"/>
              </a:ext>
            </a:extLst>
          </p:cNvPr>
          <p:cNvSpPr txBox="1"/>
          <p:nvPr/>
        </p:nvSpPr>
        <p:spPr>
          <a:xfrm>
            <a:off x="609600" y="312730"/>
            <a:ext cx="14151844" cy="786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3200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Challenges have arisen with the change in business model from Longson in-house to COO outsourced production.</a:t>
            </a:r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F5DE5462-7871-7FD3-15AA-18F5AA3E2908}"/>
              </a:ext>
            </a:extLst>
          </p:cNvPr>
          <p:cNvSpPr/>
          <p:nvPr/>
        </p:nvSpPr>
        <p:spPr>
          <a:xfrm>
            <a:off x="363834" y="1485143"/>
            <a:ext cx="2607966" cy="8619520"/>
          </a:xfrm>
          <a:custGeom>
            <a:avLst/>
            <a:gdLst/>
            <a:ahLst/>
            <a:cxnLst/>
            <a:rect l="l" t="t" r="r" b="b"/>
            <a:pathLst>
              <a:path w="2261667" h="255741">
                <a:moveTo>
                  <a:pt x="0" y="0"/>
                </a:moveTo>
                <a:lnTo>
                  <a:pt x="2261667" y="0"/>
                </a:lnTo>
                <a:lnTo>
                  <a:pt x="2261667" y="255741"/>
                </a:lnTo>
                <a:lnTo>
                  <a:pt x="0" y="255741"/>
                </a:lnTo>
                <a:close/>
              </a:path>
            </a:pathLst>
          </a:custGeom>
          <a:solidFill>
            <a:srgbClr val="000000"/>
          </a:solidFill>
        </p:spPr>
        <p:txBody>
          <a:bodyPr anchor="ctr" anchorCtr="0"/>
          <a:lstStyle/>
          <a:p>
            <a:pPr algn="ctr"/>
            <a:r>
              <a:rPr lang="en-US" sz="2400">
                <a:solidFill>
                  <a:schemeClr val="bg1"/>
                </a:solidFill>
              </a:rPr>
              <a:t>Immediate Challenges</a:t>
            </a:r>
          </a:p>
        </p:txBody>
      </p:sp>
      <p:sp>
        <p:nvSpPr>
          <p:cNvPr id="10" name="Freeform 14">
            <a:extLst>
              <a:ext uri="{FF2B5EF4-FFF2-40B4-BE49-F238E27FC236}">
                <a16:creationId xmlns:a16="http://schemas.microsoft.com/office/drawing/2014/main" id="{11B504EC-7EA2-0443-5030-FCCCCF598BB6}"/>
              </a:ext>
            </a:extLst>
          </p:cNvPr>
          <p:cNvSpPr/>
          <p:nvPr/>
        </p:nvSpPr>
        <p:spPr>
          <a:xfrm>
            <a:off x="9310017" y="1485144"/>
            <a:ext cx="2607966" cy="8619520"/>
          </a:xfrm>
          <a:custGeom>
            <a:avLst/>
            <a:gdLst/>
            <a:ahLst/>
            <a:cxnLst/>
            <a:rect l="l" t="t" r="r" b="b"/>
            <a:pathLst>
              <a:path w="2261667" h="255741">
                <a:moveTo>
                  <a:pt x="0" y="0"/>
                </a:moveTo>
                <a:lnTo>
                  <a:pt x="2261667" y="0"/>
                </a:lnTo>
                <a:lnTo>
                  <a:pt x="2261667" y="255741"/>
                </a:lnTo>
                <a:lnTo>
                  <a:pt x="0" y="255741"/>
                </a:lnTo>
                <a:close/>
              </a:path>
            </a:pathLst>
          </a:custGeom>
          <a:solidFill>
            <a:srgbClr val="000000"/>
          </a:solidFill>
        </p:spPr>
        <p:txBody>
          <a:bodyPr anchor="ctr" anchorCtr="0"/>
          <a:lstStyle/>
          <a:p>
            <a:pPr algn="ctr"/>
            <a:r>
              <a:rPr lang="en-US" sz="2400">
                <a:solidFill>
                  <a:schemeClr val="bg1"/>
                </a:solidFill>
              </a:rPr>
              <a:t>Long-Term Challenges</a:t>
            </a:r>
          </a:p>
        </p:txBody>
      </p:sp>
      <p:sp>
        <p:nvSpPr>
          <p:cNvPr id="13" name="Freeform 17">
            <a:extLst>
              <a:ext uri="{FF2B5EF4-FFF2-40B4-BE49-F238E27FC236}">
                <a16:creationId xmlns:a16="http://schemas.microsoft.com/office/drawing/2014/main" id="{93ACDE18-9484-726D-DB2D-3494A3304BC8}"/>
              </a:ext>
            </a:extLst>
          </p:cNvPr>
          <p:cNvSpPr/>
          <p:nvPr/>
        </p:nvSpPr>
        <p:spPr>
          <a:xfrm>
            <a:off x="12075158" y="1485143"/>
            <a:ext cx="5944008" cy="2642032"/>
          </a:xfrm>
          <a:custGeom>
            <a:avLst/>
            <a:gdLst/>
            <a:ahLst/>
            <a:cxnLst/>
            <a:rect l="l" t="t" r="r" b="b"/>
            <a:pathLst>
              <a:path w="2261667" h="993525">
                <a:moveTo>
                  <a:pt x="0" y="0"/>
                </a:moveTo>
                <a:lnTo>
                  <a:pt x="2261667" y="0"/>
                </a:lnTo>
                <a:lnTo>
                  <a:pt x="2261667" y="993525"/>
                </a:lnTo>
                <a:lnTo>
                  <a:pt x="0" y="9935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sz="2400" b="1" dirty="0"/>
              <a:t>Owning production has always </a:t>
            </a:r>
            <a:r>
              <a:rPr lang="en-US" sz="2400" b="1"/>
              <a:t>been AAG’s </a:t>
            </a:r>
            <a:r>
              <a:rPr lang="en-US" sz="2400" b="1" dirty="0"/>
              <a:t>strategic edge and a key selling point </a:t>
            </a:r>
          </a:p>
          <a:p>
            <a:r>
              <a:rPr lang="en-US" sz="2400" dirty="0"/>
              <a:t>Owning factory provides flexibility, control, and appeal to customers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400" dirty="0"/>
          </a:p>
        </p:txBody>
      </p:sp>
      <p:sp>
        <p:nvSpPr>
          <p:cNvPr id="14" name="Freeform 17">
            <a:extLst>
              <a:ext uri="{FF2B5EF4-FFF2-40B4-BE49-F238E27FC236}">
                <a16:creationId xmlns:a16="http://schemas.microsoft.com/office/drawing/2014/main" id="{EB02D1AB-3819-BB61-A476-F77979ADFDB2}"/>
              </a:ext>
            </a:extLst>
          </p:cNvPr>
          <p:cNvSpPr/>
          <p:nvPr/>
        </p:nvSpPr>
        <p:spPr>
          <a:xfrm>
            <a:off x="12075157" y="4321948"/>
            <a:ext cx="5944008" cy="2808900"/>
          </a:xfrm>
          <a:custGeom>
            <a:avLst/>
            <a:gdLst/>
            <a:ahLst/>
            <a:cxnLst/>
            <a:rect l="l" t="t" r="r" b="b"/>
            <a:pathLst>
              <a:path w="2261667" h="993525">
                <a:moveTo>
                  <a:pt x="0" y="0"/>
                </a:moveTo>
                <a:lnTo>
                  <a:pt x="2261667" y="0"/>
                </a:lnTo>
                <a:lnTo>
                  <a:pt x="2261667" y="993525"/>
                </a:lnTo>
                <a:lnTo>
                  <a:pt x="0" y="9935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sz="2400" b="1" dirty="0"/>
              <a:t>Value Added Processes in AAG hands</a:t>
            </a:r>
          </a:p>
          <a:p>
            <a:r>
              <a:rPr lang="en-US" sz="2400" dirty="0"/>
              <a:t>Ability to quote and manage more complex product for customers. In COO partner country, close to supply base.</a:t>
            </a:r>
          </a:p>
        </p:txBody>
      </p:sp>
      <p:sp>
        <p:nvSpPr>
          <p:cNvPr id="15" name="Freeform 17">
            <a:extLst>
              <a:ext uri="{FF2B5EF4-FFF2-40B4-BE49-F238E27FC236}">
                <a16:creationId xmlns:a16="http://schemas.microsoft.com/office/drawing/2014/main" id="{4D833F8A-016E-BBA3-371C-43100BDB3F19}"/>
              </a:ext>
            </a:extLst>
          </p:cNvPr>
          <p:cNvSpPr/>
          <p:nvPr/>
        </p:nvSpPr>
        <p:spPr>
          <a:xfrm>
            <a:off x="12084000" y="7325621"/>
            <a:ext cx="5935165" cy="2779042"/>
          </a:xfrm>
          <a:custGeom>
            <a:avLst/>
            <a:gdLst/>
            <a:ahLst/>
            <a:cxnLst/>
            <a:rect l="l" t="t" r="r" b="b"/>
            <a:pathLst>
              <a:path w="2261667" h="993525">
                <a:moveTo>
                  <a:pt x="0" y="0"/>
                </a:moveTo>
                <a:lnTo>
                  <a:pt x="2261667" y="0"/>
                </a:lnTo>
                <a:lnTo>
                  <a:pt x="2261667" y="993525"/>
                </a:lnTo>
                <a:lnTo>
                  <a:pt x="0" y="9935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sz="2400" b="1"/>
              <a:t>Uncertainty</a:t>
            </a:r>
          </a:p>
          <a:p>
            <a:r>
              <a:rPr lang="en-US" sz="2400"/>
              <a:t>Partners' uncertainty about us, and our uncertainty about partners and customers.</a:t>
            </a:r>
            <a:endParaRPr lang="en-US" sz="2400" b="1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9223DFC0-41D3-13FE-9A44-68F152E46CD8}"/>
              </a:ext>
            </a:extLst>
          </p:cNvPr>
          <p:cNvSpPr/>
          <p:nvPr/>
        </p:nvSpPr>
        <p:spPr>
          <a:xfrm>
            <a:off x="3128975" y="1485143"/>
            <a:ext cx="6023867" cy="1766522"/>
          </a:xfrm>
          <a:custGeom>
            <a:avLst/>
            <a:gdLst/>
            <a:ahLst/>
            <a:cxnLst/>
            <a:rect l="l" t="t" r="r" b="b"/>
            <a:pathLst>
              <a:path w="2261667" h="993525">
                <a:moveTo>
                  <a:pt x="0" y="0"/>
                </a:moveTo>
                <a:lnTo>
                  <a:pt x="2261667" y="0"/>
                </a:lnTo>
                <a:lnTo>
                  <a:pt x="2261667" y="993525"/>
                </a:lnTo>
                <a:lnTo>
                  <a:pt x="0" y="9935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sz="2400" b="1"/>
              <a:t>Sourcing smaller orders &lt;800 pcs</a:t>
            </a:r>
          </a:p>
          <a:p>
            <a:r>
              <a:rPr lang="en-US" sz="2400"/>
              <a:t>COO partners either refuse or quote very high prices (2-3 times normal)</a:t>
            </a:r>
          </a:p>
        </p:txBody>
      </p:sp>
      <p:sp>
        <p:nvSpPr>
          <p:cNvPr id="7" name="Freeform 17">
            <a:extLst>
              <a:ext uri="{FF2B5EF4-FFF2-40B4-BE49-F238E27FC236}">
                <a16:creationId xmlns:a16="http://schemas.microsoft.com/office/drawing/2014/main" id="{C74D4282-B9C0-DF28-32DF-46E5B2C02D29}"/>
              </a:ext>
            </a:extLst>
          </p:cNvPr>
          <p:cNvSpPr/>
          <p:nvPr/>
        </p:nvSpPr>
        <p:spPr>
          <a:xfrm>
            <a:off x="3128975" y="3402631"/>
            <a:ext cx="6023867" cy="2028988"/>
          </a:xfrm>
          <a:custGeom>
            <a:avLst/>
            <a:gdLst/>
            <a:ahLst/>
            <a:cxnLst/>
            <a:rect l="l" t="t" r="r" b="b"/>
            <a:pathLst>
              <a:path w="2261667" h="993525">
                <a:moveTo>
                  <a:pt x="0" y="0"/>
                </a:moveTo>
                <a:lnTo>
                  <a:pt x="2261667" y="0"/>
                </a:lnTo>
                <a:lnTo>
                  <a:pt x="2261667" y="993525"/>
                </a:lnTo>
                <a:lnTo>
                  <a:pt x="0" y="9935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sz="2400" b="1" dirty="0"/>
              <a:t>Guarantee capacity, secure new orders</a:t>
            </a:r>
          </a:p>
          <a:p>
            <a:r>
              <a:rPr lang="en-US" sz="2400" dirty="0"/>
              <a:t>Current production situation is in transition</a:t>
            </a:r>
            <a:r>
              <a:rPr lang="en-US" sz="2400"/>
              <a:t>, AAG </a:t>
            </a:r>
            <a:r>
              <a:rPr lang="en-US" sz="2400" dirty="0"/>
              <a:t>struggling to confirm location and timing of future orders (</a:t>
            </a:r>
            <a:r>
              <a:rPr lang="en-US" sz="2400" dirty="0" err="1"/>
              <a:t>cf</a:t>
            </a:r>
            <a:r>
              <a:rPr lang="en-US" sz="2400" dirty="0"/>
              <a:t>: </a:t>
            </a:r>
            <a:r>
              <a:rPr lang="en-US" sz="2400" dirty="0" err="1"/>
              <a:t>LeverStyle</a:t>
            </a:r>
            <a:r>
              <a:rPr lang="en-US" sz="2400" dirty="0"/>
              <a:t> and </a:t>
            </a:r>
            <a:r>
              <a:rPr lang="en-US" sz="2400" dirty="0" err="1"/>
              <a:t>SGroup</a:t>
            </a:r>
            <a:r>
              <a:rPr lang="en-US" sz="2400" dirty="0"/>
              <a:t>)</a:t>
            </a:r>
          </a:p>
        </p:txBody>
      </p:sp>
      <p:sp>
        <p:nvSpPr>
          <p:cNvPr id="9" name="Freeform 17">
            <a:extLst>
              <a:ext uri="{FF2B5EF4-FFF2-40B4-BE49-F238E27FC236}">
                <a16:creationId xmlns:a16="http://schemas.microsoft.com/office/drawing/2014/main" id="{1B6033C0-9BD8-9131-94D5-B9C660D6DBDB}"/>
              </a:ext>
            </a:extLst>
          </p:cNvPr>
          <p:cNvSpPr/>
          <p:nvPr/>
        </p:nvSpPr>
        <p:spPr>
          <a:xfrm>
            <a:off x="3120133" y="5555372"/>
            <a:ext cx="6023867" cy="1735802"/>
          </a:xfrm>
          <a:custGeom>
            <a:avLst/>
            <a:gdLst/>
            <a:ahLst/>
            <a:cxnLst/>
            <a:rect l="l" t="t" r="r" b="b"/>
            <a:pathLst>
              <a:path w="2261667" h="993525">
                <a:moveTo>
                  <a:pt x="0" y="0"/>
                </a:moveTo>
                <a:lnTo>
                  <a:pt x="2261667" y="0"/>
                </a:lnTo>
                <a:lnTo>
                  <a:pt x="2261667" y="993525"/>
                </a:lnTo>
                <a:lnTo>
                  <a:pt x="0" y="9935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sz="2400" b="1"/>
              <a:t>Technical capabilities</a:t>
            </a:r>
          </a:p>
          <a:p>
            <a:r>
              <a:rPr lang="en-US" sz="2400"/>
              <a:t>Partner inability / reluctance with complex technical capability, especially </a:t>
            </a:r>
            <a:r>
              <a:rPr lang="en-US" sz="2400" b="1"/>
              <a:t>value-added processes</a:t>
            </a:r>
          </a:p>
        </p:txBody>
      </p:sp>
      <p:sp>
        <p:nvSpPr>
          <p:cNvPr id="16" name="Freeform 17">
            <a:extLst>
              <a:ext uri="{FF2B5EF4-FFF2-40B4-BE49-F238E27FC236}">
                <a16:creationId xmlns:a16="http://schemas.microsoft.com/office/drawing/2014/main" id="{0735ABA4-E849-1A4D-74DC-78C9EFEB83EC}"/>
              </a:ext>
            </a:extLst>
          </p:cNvPr>
          <p:cNvSpPr/>
          <p:nvPr/>
        </p:nvSpPr>
        <p:spPr>
          <a:xfrm>
            <a:off x="3128975" y="7441388"/>
            <a:ext cx="6023867" cy="1242924"/>
          </a:xfrm>
          <a:custGeom>
            <a:avLst/>
            <a:gdLst/>
            <a:ahLst/>
            <a:cxnLst/>
            <a:rect l="l" t="t" r="r" b="b"/>
            <a:pathLst>
              <a:path w="2261667" h="993525">
                <a:moveTo>
                  <a:pt x="0" y="0"/>
                </a:moveTo>
                <a:lnTo>
                  <a:pt x="2261667" y="0"/>
                </a:lnTo>
                <a:lnTo>
                  <a:pt x="2261667" y="993525"/>
                </a:lnTo>
                <a:lnTo>
                  <a:pt x="0" y="9935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sz="2400" b="1"/>
              <a:t>Country Diversification</a:t>
            </a:r>
          </a:p>
          <a:p>
            <a:r>
              <a:rPr lang="en-US" sz="2400"/>
              <a:t>Potential for 46% and 49% reciprocal tariffs on Vietnam and Cambodia (+ geopolitical risks)</a:t>
            </a:r>
            <a:endParaRPr lang="en-US" sz="2400" b="1"/>
          </a:p>
        </p:txBody>
      </p:sp>
      <p:sp>
        <p:nvSpPr>
          <p:cNvPr id="17" name="Freeform 17">
            <a:extLst>
              <a:ext uri="{FF2B5EF4-FFF2-40B4-BE49-F238E27FC236}">
                <a16:creationId xmlns:a16="http://schemas.microsoft.com/office/drawing/2014/main" id="{97EC010E-649B-687D-76DD-F2F2C942A14A}"/>
              </a:ext>
            </a:extLst>
          </p:cNvPr>
          <p:cNvSpPr/>
          <p:nvPr/>
        </p:nvSpPr>
        <p:spPr>
          <a:xfrm>
            <a:off x="3128975" y="8834526"/>
            <a:ext cx="6023867" cy="1242924"/>
          </a:xfrm>
          <a:custGeom>
            <a:avLst/>
            <a:gdLst/>
            <a:ahLst/>
            <a:cxnLst/>
            <a:rect l="l" t="t" r="r" b="b"/>
            <a:pathLst>
              <a:path w="2261667" h="993525">
                <a:moveTo>
                  <a:pt x="0" y="0"/>
                </a:moveTo>
                <a:lnTo>
                  <a:pt x="2261667" y="0"/>
                </a:lnTo>
                <a:lnTo>
                  <a:pt x="2261667" y="993525"/>
                </a:lnTo>
                <a:lnTo>
                  <a:pt x="0" y="9935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lIns="91440" tIns="45720" rIns="91440" bIns="45720" anchor="t"/>
          <a:lstStyle/>
          <a:p>
            <a:r>
              <a:rPr lang="en-US" sz="2400" b="1" dirty="0"/>
              <a:t>Consolidate Footprint</a:t>
            </a:r>
          </a:p>
          <a:p>
            <a:r>
              <a:rPr lang="en-US" sz="2400" dirty="0"/>
              <a:t>Manage resources more efficiently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583570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94351-DAB4-3C21-391D-8DDF2587F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DBE54AC-F45C-BC67-85D6-5DD223566979}"/>
              </a:ext>
            </a:extLst>
          </p:cNvPr>
          <p:cNvSpPr/>
          <p:nvPr/>
        </p:nvSpPr>
        <p:spPr>
          <a:xfrm>
            <a:off x="5" y="1223430"/>
            <a:ext cx="18307050" cy="1905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A051739-C142-447A-A735-ED50DC3DCC02}"/>
              </a:ext>
            </a:extLst>
          </p:cNvPr>
          <p:cNvSpPr txBox="1"/>
          <p:nvPr/>
        </p:nvSpPr>
        <p:spPr>
          <a:xfrm>
            <a:off x="601264" y="266700"/>
            <a:ext cx="14562536" cy="7797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30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There are a range of options each with pros and cons.  Leased lines / capacity is a middle ground between Longson and COO outsourced partners.</a:t>
            </a:r>
          </a:p>
        </p:txBody>
      </p:sp>
      <p:sp>
        <p:nvSpPr>
          <p:cNvPr id="8" name="Freeform 14">
            <a:extLst>
              <a:ext uri="{FF2B5EF4-FFF2-40B4-BE49-F238E27FC236}">
                <a16:creationId xmlns:a16="http://schemas.microsoft.com/office/drawing/2014/main" id="{B2645264-8369-7A6A-4FB3-A81E3C7C96F0}"/>
              </a:ext>
            </a:extLst>
          </p:cNvPr>
          <p:cNvSpPr/>
          <p:nvPr/>
        </p:nvSpPr>
        <p:spPr>
          <a:xfrm>
            <a:off x="6276084" y="7277100"/>
            <a:ext cx="5656604" cy="1968420"/>
          </a:xfrm>
          <a:custGeom>
            <a:avLst/>
            <a:gdLst/>
            <a:ahLst/>
            <a:cxnLst/>
            <a:rect l="l" t="t" r="r" b="b"/>
            <a:pathLst>
              <a:path w="2261667" h="255741">
                <a:moveTo>
                  <a:pt x="0" y="0"/>
                </a:moveTo>
                <a:lnTo>
                  <a:pt x="2261667" y="0"/>
                </a:lnTo>
                <a:lnTo>
                  <a:pt x="2261667" y="255741"/>
                </a:lnTo>
                <a:lnTo>
                  <a:pt x="0" y="25574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t" anchorCtr="0"/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dirty="0"/>
              <a:t>Long term capacity is in the hands of partners, </a:t>
            </a:r>
            <a:r>
              <a:rPr lang="en-US" sz="2400"/>
              <a:t>not AAG</a:t>
            </a:r>
            <a:endParaRPr lang="en-US" sz="2400" dirty="0"/>
          </a:p>
          <a:p>
            <a:pPr lvl="1"/>
            <a:endParaRPr lang="en-US" sz="1000" dirty="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/>
              <a:t>AAG </a:t>
            </a:r>
            <a:r>
              <a:rPr lang="en-US" sz="2400" dirty="0"/>
              <a:t>will pay the cost of </a:t>
            </a:r>
            <a:r>
              <a:rPr lang="en-US" sz="2400" b="1" dirty="0"/>
              <a:t>lower efficiency</a:t>
            </a:r>
            <a:r>
              <a:rPr lang="en-US" sz="2400" dirty="0"/>
              <a:t>, we’ll need to invest</a:t>
            </a:r>
          </a:p>
        </p:txBody>
      </p:sp>
      <p:sp>
        <p:nvSpPr>
          <p:cNvPr id="6" name="Freeform 14">
            <a:extLst>
              <a:ext uri="{FF2B5EF4-FFF2-40B4-BE49-F238E27FC236}">
                <a16:creationId xmlns:a16="http://schemas.microsoft.com/office/drawing/2014/main" id="{0F8FF627-4348-81D0-3FEC-3B4152D787B8}"/>
              </a:ext>
            </a:extLst>
          </p:cNvPr>
          <p:cNvSpPr/>
          <p:nvPr/>
        </p:nvSpPr>
        <p:spPr>
          <a:xfrm>
            <a:off x="407604" y="1842673"/>
            <a:ext cx="5656604" cy="819529"/>
          </a:xfrm>
          <a:custGeom>
            <a:avLst/>
            <a:gdLst/>
            <a:ahLst/>
            <a:cxnLst/>
            <a:rect l="l" t="t" r="r" b="b"/>
            <a:pathLst>
              <a:path w="2261667" h="255741">
                <a:moveTo>
                  <a:pt x="0" y="0"/>
                </a:moveTo>
                <a:lnTo>
                  <a:pt x="2261667" y="0"/>
                </a:lnTo>
                <a:lnTo>
                  <a:pt x="2261667" y="255741"/>
                </a:lnTo>
                <a:lnTo>
                  <a:pt x="0" y="255741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 anchorCtr="0"/>
          <a:lstStyle/>
          <a:p>
            <a:pPr algn="ctr"/>
            <a:r>
              <a:rPr lang="en-US" sz="2400">
                <a:solidFill>
                  <a:schemeClr val="bg1"/>
                </a:solidFill>
              </a:rPr>
              <a:t>Outsourcing - COO</a:t>
            </a:r>
          </a:p>
        </p:txBody>
      </p:sp>
      <p:sp>
        <p:nvSpPr>
          <p:cNvPr id="9" name="Freeform 14">
            <a:extLst>
              <a:ext uri="{FF2B5EF4-FFF2-40B4-BE49-F238E27FC236}">
                <a16:creationId xmlns:a16="http://schemas.microsoft.com/office/drawing/2014/main" id="{1D7BA58D-1329-3731-33B9-B52344EBC94A}"/>
              </a:ext>
            </a:extLst>
          </p:cNvPr>
          <p:cNvSpPr/>
          <p:nvPr/>
        </p:nvSpPr>
        <p:spPr>
          <a:xfrm>
            <a:off x="12174196" y="1873414"/>
            <a:ext cx="5656605" cy="798013"/>
          </a:xfrm>
          <a:custGeom>
            <a:avLst/>
            <a:gdLst/>
            <a:ahLst/>
            <a:cxnLst/>
            <a:rect l="l" t="t" r="r" b="b"/>
            <a:pathLst>
              <a:path w="2261667" h="255741">
                <a:moveTo>
                  <a:pt x="0" y="0"/>
                </a:moveTo>
                <a:lnTo>
                  <a:pt x="2261667" y="0"/>
                </a:lnTo>
                <a:lnTo>
                  <a:pt x="2261667" y="255741"/>
                </a:lnTo>
                <a:lnTo>
                  <a:pt x="0" y="255741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solidFill>
              <a:schemeClr val="tx1">
                <a:lumMod val="75000"/>
                <a:lumOff val="25000"/>
              </a:schemeClr>
            </a:solidFill>
          </a:ln>
        </p:spPr>
        <p:txBody>
          <a:bodyPr anchor="ctr" anchorCtr="0"/>
          <a:lstStyle/>
          <a:p>
            <a:pPr algn="ctr"/>
            <a:r>
              <a:rPr lang="en-US" sz="2400">
                <a:solidFill>
                  <a:schemeClr val="bg1"/>
                </a:solidFill>
              </a:rPr>
              <a:t>AAG </a:t>
            </a:r>
            <a:r>
              <a:rPr lang="en-US" sz="2400" dirty="0">
                <a:solidFill>
                  <a:schemeClr val="bg1"/>
                </a:solidFill>
              </a:rPr>
              <a:t>Wholly Owned </a:t>
            </a:r>
          </a:p>
        </p:txBody>
      </p:sp>
      <p:sp>
        <p:nvSpPr>
          <p:cNvPr id="10" name="Freeform 14">
            <a:extLst>
              <a:ext uri="{FF2B5EF4-FFF2-40B4-BE49-F238E27FC236}">
                <a16:creationId xmlns:a16="http://schemas.microsoft.com/office/drawing/2014/main" id="{C70EDB6A-665F-1175-6CB8-EEC781E444AA}"/>
              </a:ext>
            </a:extLst>
          </p:cNvPr>
          <p:cNvSpPr/>
          <p:nvPr/>
        </p:nvSpPr>
        <p:spPr>
          <a:xfrm>
            <a:off x="6260957" y="1438903"/>
            <a:ext cx="5686858" cy="803101"/>
          </a:xfrm>
          <a:custGeom>
            <a:avLst/>
            <a:gdLst/>
            <a:ahLst/>
            <a:cxnLst/>
            <a:rect l="l" t="t" r="r" b="b"/>
            <a:pathLst>
              <a:path w="2261667" h="255741">
                <a:moveTo>
                  <a:pt x="0" y="0"/>
                </a:moveTo>
                <a:lnTo>
                  <a:pt x="2261667" y="0"/>
                </a:lnTo>
                <a:lnTo>
                  <a:pt x="2261667" y="255741"/>
                </a:lnTo>
                <a:lnTo>
                  <a:pt x="0" y="255741"/>
                </a:lnTo>
                <a:close/>
              </a:path>
            </a:pathLst>
          </a:custGeom>
          <a:solidFill>
            <a:srgbClr val="000000"/>
          </a:solidFill>
        </p:spPr>
        <p:txBody>
          <a:bodyPr anchor="ctr" anchorCtr="0"/>
          <a:lstStyle/>
          <a:p>
            <a:pPr algn="ctr"/>
            <a:r>
              <a:rPr lang="en-US" sz="2400">
                <a:solidFill>
                  <a:schemeClr val="bg1"/>
                </a:solidFill>
              </a:rPr>
              <a:t>Leased Lines and Capacity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D0F3835-21F9-EB16-A903-F4C30E719021}"/>
              </a:ext>
            </a:extLst>
          </p:cNvPr>
          <p:cNvSpPr/>
          <p:nvPr/>
        </p:nvSpPr>
        <p:spPr>
          <a:xfrm>
            <a:off x="6257637" y="2237922"/>
            <a:ext cx="5675051" cy="57179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Pros</a:t>
            </a:r>
          </a:p>
        </p:txBody>
      </p:sp>
      <p:sp>
        <p:nvSpPr>
          <p:cNvPr id="14" name="Freeform 14">
            <a:extLst>
              <a:ext uri="{FF2B5EF4-FFF2-40B4-BE49-F238E27FC236}">
                <a16:creationId xmlns:a16="http://schemas.microsoft.com/office/drawing/2014/main" id="{50841A4C-C37C-0B3D-3F0C-B407820C4C42}"/>
              </a:ext>
            </a:extLst>
          </p:cNvPr>
          <p:cNvSpPr/>
          <p:nvPr/>
        </p:nvSpPr>
        <p:spPr>
          <a:xfrm>
            <a:off x="6256276" y="2809714"/>
            <a:ext cx="5656604" cy="3899675"/>
          </a:xfrm>
          <a:custGeom>
            <a:avLst/>
            <a:gdLst/>
            <a:ahLst/>
            <a:cxnLst/>
            <a:rect l="l" t="t" r="r" b="b"/>
            <a:pathLst>
              <a:path w="2261667" h="255741">
                <a:moveTo>
                  <a:pt x="0" y="0"/>
                </a:moveTo>
                <a:lnTo>
                  <a:pt x="2261667" y="0"/>
                </a:lnTo>
                <a:lnTo>
                  <a:pt x="2261667" y="255741"/>
                </a:lnTo>
                <a:lnTo>
                  <a:pt x="0" y="25574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t" anchorCtr="0"/>
          <a:lstStyle/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Taking advantage of </a:t>
            </a:r>
            <a:r>
              <a:rPr lang="en-US" sz="2400" b="1" dirty="0"/>
              <a:t>existing factory’s </a:t>
            </a:r>
            <a:r>
              <a:rPr lang="en-US" sz="2400" dirty="0"/>
              <a:t>infrastructure and facilities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 dirty="0"/>
              <a:t>Limited CAPEX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400" dirty="0"/>
              <a:t>May shift CAPEX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Partner pays OPEX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b="1"/>
              <a:t>AAG </a:t>
            </a:r>
            <a:r>
              <a:rPr lang="en-US" sz="2400" b="1" dirty="0"/>
              <a:t>controls Lease line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400" dirty="0"/>
              <a:t>Allows for </a:t>
            </a:r>
            <a:r>
              <a:rPr lang="en-US" sz="2400" b="1" dirty="0"/>
              <a:t>deeper partnerships </a:t>
            </a:r>
          </a:p>
          <a:p>
            <a:pPr marL="1257300" lvl="2" indent="-342900">
              <a:buFont typeface="Courier New" panose="02070309020205020404" pitchFamily="49" charset="0"/>
              <a:buChar char="o"/>
            </a:pPr>
            <a:r>
              <a:rPr lang="en-US" sz="2400" dirty="0"/>
              <a:t>Maybe future VAP, equity options</a:t>
            </a:r>
          </a:p>
          <a:p>
            <a:endParaRPr lang="en-US" sz="24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BFD125-EBDB-30C8-9338-E0DE34C9360E}"/>
              </a:ext>
            </a:extLst>
          </p:cNvPr>
          <p:cNvSpPr/>
          <p:nvPr/>
        </p:nvSpPr>
        <p:spPr>
          <a:xfrm>
            <a:off x="6273065" y="6709390"/>
            <a:ext cx="5675050" cy="5837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/>
              <a:t>Cons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0127F61-9A8C-423B-B946-9E8B4FC16A8D}"/>
              </a:ext>
            </a:extLst>
          </p:cNvPr>
          <p:cNvSpPr/>
          <p:nvPr/>
        </p:nvSpPr>
        <p:spPr>
          <a:xfrm>
            <a:off x="12174197" y="2671428"/>
            <a:ext cx="5656604" cy="5956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Pros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1C007D25-1E11-42C1-5F5F-2BA9E81DC3B0}"/>
              </a:ext>
            </a:extLst>
          </p:cNvPr>
          <p:cNvSpPr/>
          <p:nvPr/>
        </p:nvSpPr>
        <p:spPr>
          <a:xfrm>
            <a:off x="12187962" y="3215713"/>
            <a:ext cx="5656604" cy="3256213"/>
          </a:xfrm>
          <a:custGeom>
            <a:avLst/>
            <a:gdLst/>
            <a:ahLst/>
            <a:cxnLst/>
            <a:rect l="l" t="t" r="r" b="b"/>
            <a:pathLst>
              <a:path w="2261667" h="255741">
                <a:moveTo>
                  <a:pt x="0" y="0"/>
                </a:moveTo>
                <a:lnTo>
                  <a:pt x="2261667" y="0"/>
                </a:lnTo>
                <a:lnTo>
                  <a:pt x="2261667" y="255741"/>
                </a:lnTo>
                <a:lnTo>
                  <a:pt x="0" y="25574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t" anchorCtr="0"/>
          <a:lstStyle/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/>
              <a:t>Complete control </a:t>
            </a:r>
            <a:r>
              <a:rPr lang="en-US" sz="2400"/>
              <a:t>over production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/>
              <a:t>Allows planning, training</a:t>
            </a:r>
            <a:r>
              <a:rPr lang="en-US" sz="2400" b="1"/>
              <a:t> flexibility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/>
              <a:t>High </a:t>
            </a:r>
            <a:r>
              <a:rPr lang="en-US" sz="2400" b="1"/>
              <a:t>sales confidence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/>
              <a:t>Asset</a:t>
            </a:r>
            <a:r>
              <a:rPr lang="en-US" sz="2400"/>
              <a:t> based model</a:t>
            </a:r>
          </a:p>
          <a:p>
            <a:endParaRPr lang="en-US" sz="24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EF0958-E5FC-B33F-5C8B-4188A887F9E4}"/>
              </a:ext>
            </a:extLst>
          </p:cNvPr>
          <p:cNvSpPr/>
          <p:nvPr/>
        </p:nvSpPr>
        <p:spPr>
          <a:xfrm>
            <a:off x="12174197" y="6471926"/>
            <a:ext cx="5665829" cy="5956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Cons</a:t>
            </a:r>
          </a:p>
        </p:txBody>
      </p:sp>
      <p:sp>
        <p:nvSpPr>
          <p:cNvPr id="20" name="Freeform 14">
            <a:extLst>
              <a:ext uri="{FF2B5EF4-FFF2-40B4-BE49-F238E27FC236}">
                <a16:creationId xmlns:a16="http://schemas.microsoft.com/office/drawing/2014/main" id="{6DFDC1EC-1E35-BA25-276B-E41CF06EA381}"/>
              </a:ext>
            </a:extLst>
          </p:cNvPr>
          <p:cNvSpPr/>
          <p:nvPr/>
        </p:nvSpPr>
        <p:spPr>
          <a:xfrm>
            <a:off x="12174196" y="7019947"/>
            <a:ext cx="5656604" cy="2238349"/>
          </a:xfrm>
          <a:custGeom>
            <a:avLst/>
            <a:gdLst/>
            <a:ahLst/>
            <a:cxnLst/>
            <a:rect l="l" t="t" r="r" b="b"/>
            <a:pathLst>
              <a:path w="2261667" h="255741">
                <a:moveTo>
                  <a:pt x="0" y="0"/>
                </a:moveTo>
                <a:lnTo>
                  <a:pt x="2261667" y="0"/>
                </a:lnTo>
                <a:lnTo>
                  <a:pt x="2261667" y="255741"/>
                </a:lnTo>
                <a:lnTo>
                  <a:pt x="0" y="25574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t" anchorCtr="0"/>
          <a:lstStyle/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/>
              <a:t>Highest </a:t>
            </a:r>
            <a:r>
              <a:rPr lang="en-US" sz="2400" b="1"/>
              <a:t>CAPEX and Risk</a:t>
            </a:r>
          </a:p>
          <a:p>
            <a:pPr lvl="1"/>
            <a:endParaRPr lang="en-US" sz="100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/>
              <a:t>Lots of time and resources</a:t>
            </a:r>
            <a:endParaRPr lang="en-US" sz="2400" b="1"/>
          </a:p>
          <a:p>
            <a:pPr lvl="1"/>
            <a:endParaRPr lang="en-US" sz="1000"/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400" b="1"/>
              <a:t>High costs </a:t>
            </a:r>
            <a:r>
              <a:rPr lang="en-US" sz="2400"/>
              <a:t>to manage many product ranges on single site (Longson)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endParaRPr lang="en-US" sz="24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F545FAE-B4C1-1739-67F1-8FD2A35F0BB6}"/>
              </a:ext>
            </a:extLst>
          </p:cNvPr>
          <p:cNvSpPr/>
          <p:nvPr/>
        </p:nvSpPr>
        <p:spPr>
          <a:xfrm>
            <a:off x="421370" y="2671428"/>
            <a:ext cx="5656604" cy="5956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Pros</a:t>
            </a:r>
          </a:p>
        </p:txBody>
      </p:sp>
      <p:sp>
        <p:nvSpPr>
          <p:cNvPr id="24" name="Freeform 14">
            <a:extLst>
              <a:ext uri="{FF2B5EF4-FFF2-40B4-BE49-F238E27FC236}">
                <a16:creationId xmlns:a16="http://schemas.microsoft.com/office/drawing/2014/main" id="{57C6AE16-3944-3A9D-CA77-B4E7E966F8A7}"/>
              </a:ext>
            </a:extLst>
          </p:cNvPr>
          <p:cNvSpPr/>
          <p:nvPr/>
        </p:nvSpPr>
        <p:spPr>
          <a:xfrm>
            <a:off x="435135" y="3215713"/>
            <a:ext cx="5656604" cy="3256213"/>
          </a:xfrm>
          <a:custGeom>
            <a:avLst/>
            <a:gdLst/>
            <a:ahLst/>
            <a:cxnLst/>
            <a:rect l="l" t="t" r="r" b="b"/>
            <a:pathLst>
              <a:path w="2261667" h="255741">
                <a:moveTo>
                  <a:pt x="0" y="0"/>
                </a:moveTo>
                <a:lnTo>
                  <a:pt x="2261667" y="0"/>
                </a:lnTo>
                <a:lnTo>
                  <a:pt x="2261667" y="255741"/>
                </a:lnTo>
                <a:lnTo>
                  <a:pt x="0" y="25574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t" anchorCtr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/>
              <a:t>Zero CAPEX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sz="2400"/>
              <a:t>May shift capex</a:t>
            </a:r>
          </a:p>
          <a:p>
            <a:endParaRPr lang="en-US" sz="1000" b="1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Very </a:t>
            </a:r>
            <a:r>
              <a:rPr lang="en-US" sz="2400" b="1"/>
              <a:t>small OPEX </a:t>
            </a:r>
            <a:r>
              <a:rPr lang="en-US" sz="2400"/>
              <a:t>commitment </a:t>
            </a:r>
          </a:p>
          <a:p>
            <a:endParaRPr lang="en-US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Allows for </a:t>
            </a:r>
            <a:r>
              <a:rPr lang="en-US" sz="2400" b="1"/>
              <a:t>all categories </a:t>
            </a:r>
            <a:r>
              <a:rPr lang="en-US" sz="2400"/>
              <a:t>of product through large supply base</a:t>
            </a:r>
          </a:p>
          <a:p>
            <a:endParaRPr lang="en-US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/>
              <a:t>Diversification</a:t>
            </a:r>
            <a:r>
              <a:rPr lang="en-US" sz="2400"/>
              <a:t> of supply-base risk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40DB267-3294-3EF5-07A2-21E1D555CE8A}"/>
              </a:ext>
            </a:extLst>
          </p:cNvPr>
          <p:cNvSpPr/>
          <p:nvPr/>
        </p:nvSpPr>
        <p:spPr>
          <a:xfrm>
            <a:off x="421370" y="6471926"/>
            <a:ext cx="5665829" cy="59562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tx1">
                    <a:lumMod val="65000"/>
                    <a:lumOff val="35000"/>
                  </a:schemeClr>
                </a:solidFill>
              </a:rPr>
              <a:t>Cons</a:t>
            </a:r>
          </a:p>
        </p:txBody>
      </p:sp>
      <p:sp>
        <p:nvSpPr>
          <p:cNvPr id="26" name="Freeform 14">
            <a:extLst>
              <a:ext uri="{FF2B5EF4-FFF2-40B4-BE49-F238E27FC236}">
                <a16:creationId xmlns:a16="http://schemas.microsoft.com/office/drawing/2014/main" id="{FE1625C8-62F0-1028-DDD0-19021358ACD3}"/>
              </a:ext>
            </a:extLst>
          </p:cNvPr>
          <p:cNvSpPr/>
          <p:nvPr/>
        </p:nvSpPr>
        <p:spPr>
          <a:xfrm>
            <a:off x="421369" y="7019947"/>
            <a:ext cx="5656604" cy="2238349"/>
          </a:xfrm>
          <a:custGeom>
            <a:avLst/>
            <a:gdLst/>
            <a:ahLst/>
            <a:cxnLst/>
            <a:rect l="l" t="t" r="r" b="b"/>
            <a:pathLst>
              <a:path w="2261667" h="255741">
                <a:moveTo>
                  <a:pt x="0" y="0"/>
                </a:moveTo>
                <a:lnTo>
                  <a:pt x="2261667" y="0"/>
                </a:lnTo>
                <a:lnTo>
                  <a:pt x="2261667" y="255741"/>
                </a:lnTo>
                <a:lnTo>
                  <a:pt x="0" y="255741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 anchor="t" anchorCtr="0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/>
              <a:t>Limited control </a:t>
            </a:r>
            <a:r>
              <a:rPr lang="en-US" sz="2400"/>
              <a:t>over capacity </a:t>
            </a:r>
          </a:p>
          <a:p>
            <a:endParaRPr lang="en-US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/>
              <a:t>Partners pick</a:t>
            </a:r>
            <a:r>
              <a:rPr lang="en-US" sz="2400"/>
              <a:t> and choose orders </a:t>
            </a:r>
          </a:p>
          <a:p>
            <a:endParaRPr lang="en-US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Many categories, </a:t>
            </a:r>
            <a:r>
              <a:rPr lang="en-US" sz="2400" b="1"/>
              <a:t>many suppliers </a:t>
            </a:r>
            <a:r>
              <a:rPr lang="en-US" sz="2400"/>
              <a:t>needed</a:t>
            </a:r>
          </a:p>
          <a:p>
            <a:endParaRPr lang="en-US" sz="10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Small MOQs - small orders impossible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D39DF37-3D6F-8D2C-6A14-33F819421BA7}"/>
              </a:ext>
            </a:extLst>
          </p:cNvPr>
          <p:cNvCxnSpPr>
            <a:cxnSpLocks/>
          </p:cNvCxnSpPr>
          <p:nvPr/>
        </p:nvCxnSpPr>
        <p:spPr>
          <a:xfrm>
            <a:off x="1103981" y="9944100"/>
            <a:ext cx="16383000" cy="0"/>
          </a:xfrm>
          <a:prstGeom prst="straightConnector1">
            <a:avLst/>
          </a:prstGeom>
          <a:ln w="762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89803571-1B45-B209-D0D5-A9321AF6935F}"/>
              </a:ext>
            </a:extLst>
          </p:cNvPr>
          <p:cNvSpPr/>
          <p:nvPr/>
        </p:nvSpPr>
        <p:spPr>
          <a:xfrm>
            <a:off x="12177533" y="9235022"/>
            <a:ext cx="5656604" cy="521193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High CAPEX, High Control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1B83ECD-E169-F85C-DC0A-427A8DCECB9F}"/>
              </a:ext>
            </a:extLst>
          </p:cNvPr>
          <p:cNvSpPr/>
          <p:nvPr/>
        </p:nvSpPr>
        <p:spPr>
          <a:xfrm>
            <a:off x="438471" y="9245520"/>
            <a:ext cx="5629073" cy="5212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Low CAPEX, Low Control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A66C629-664C-F747-6112-D5BBA2F54ACE}"/>
              </a:ext>
            </a:extLst>
          </p:cNvPr>
          <p:cNvSpPr/>
          <p:nvPr/>
        </p:nvSpPr>
        <p:spPr>
          <a:xfrm>
            <a:off x="6273065" y="9235022"/>
            <a:ext cx="5686858" cy="512653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Right Amount of Control and Upfront Costs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95DB6F1-B0E2-264A-6A45-535F388A0917}"/>
              </a:ext>
            </a:extLst>
          </p:cNvPr>
          <p:cNvSpPr/>
          <p:nvPr/>
        </p:nvSpPr>
        <p:spPr>
          <a:xfrm>
            <a:off x="6256276" y="1399358"/>
            <a:ext cx="5703647" cy="8348317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5465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rot="3577">
            <a:off x="-19055" y="1112427"/>
            <a:ext cx="18307060" cy="0"/>
          </a:xfrm>
          <a:prstGeom prst="line">
            <a:avLst/>
          </a:prstGeom>
          <a:ln>
            <a:headEnd type="none" w="sm" len="sm"/>
            <a:tailEnd type="none" w="sm" len="sm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/>
          <a:lstStyle/>
          <a:p>
            <a:endParaRPr lang="en-US"/>
          </a:p>
        </p:txBody>
      </p:sp>
      <p:sp>
        <p:nvSpPr>
          <p:cNvPr id="42" name="TextBox 42"/>
          <p:cNvSpPr txBox="1"/>
          <p:nvPr/>
        </p:nvSpPr>
        <p:spPr>
          <a:xfrm>
            <a:off x="268834" y="104773"/>
            <a:ext cx="15352166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000" b="1" dirty="0">
                <a:solidFill>
                  <a:srgbClr val="000000"/>
                </a:solidFill>
                <a:latin typeface="Aptos Bold"/>
              </a:rPr>
              <a:t>More than half of US customers POs are less than 800 pieces. We urgently need a solution to place these small orders as they are a huge part </a:t>
            </a:r>
            <a:r>
              <a:rPr lang="en-US" sz="3000" b="1">
                <a:solidFill>
                  <a:srgbClr val="000000"/>
                </a:solidFill>
                <a:latin typeface="Aptos Bold"/>
              </a:rPr>
              <a:t>of AAG’s </a:t>
            </a:r>
            <a:r>
              <a:rPr lang="en-US" sz="3000" b="1" dirty="0">
                <a:solidFill>
                  <a:srgbClr val="000000"/>
                </a:solidFill>
                <a:latin typeface="Aptos Bold"/>
              </a:rPr>
              <a:t>business.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C7F93CF5-7081-3B7E-D71C-3C467CE2FF6F}"/>
              </a:ext>
            </a:extLst>
          </p:cNvPr>
          <p:cNvGrpSpPr/>
          <p:nvPr/>
        </p:nvGrpSpPr>
        <p:grpSpPr>
          <a:xfrm>
            <a:off x="9846113" y="5981970"/>
            <a:ext cx="8205674" cy="3653525"/>
            <a:chOff x="9813491" y="5032326"/>
            <a:chExt cx="8205674" cy="3653525"/>
          </a:xfrm>
        </p:grpSpPr>
        <p:sp>
          <p:nvSpPr>
            <p:cNvPr id="21" name="TextBox 21"/>
            <p:cNvSpPr txBox="1"/>
            <p:nvPr/>
          </p:nvSpPr>
          <p:spPr>
            <a:xfrm>
              <a:off x="9813509" y="5032326"/>
              <a:ext cx="8205627" cy="875837"/>
            </a:xfrm>
            <a:prstGeom prst="rect">
              <a:avLst/>
            </a:prstGeom>
            <a:solidFill>
              <a:schemeClr val="tx2"/>
            </a:solidFill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US" sz="2400" b="1">
                  <a:solidFill>
                    <a:srgbClr val="FFFFFF"/>
                  </a:solidFill>
                  <a:latin typeface="+mj-lt"/>
                  <a:ea typeface="Aptos Bold"/>
                  <a:cs typeface="Aptos Bold"/>
                  <a:sym typeface="Aptos Bold"/>
                </a:rPr>
                <a:t>Timing and Geopolitical Climate Makes </a:t>
              </a:r>
            </a:p>
            <a:p>
              <a:pPr algn="ctr">
                <a:lnSpc>
                  <a:spcPts val="3240"/>
                </a:lnSpc>
              </a:pPr>
              <a:r>
                <a:rPr lang="en-US" sz="2400" b="1">
                  <a:solidFill>
                    <a:srgbClr val="FFFFFF"/>
                  </a:solidFill>
                  <a:latin typeface="+mj-lt"/>
                  <a:ea typeface="Aptos Bold"/>
                  <a:cs typeface="Aptos Bold"/>
                  <a:sym typeface="Aptos Bold"/>
                </a:rPr>
                <a:t>Challenges more Complex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813491" y="5990138"/>
              <a:ext cx="8205674" cy="269571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</p:spPr>
          <p:txBody>
            <a:bodyPr lIns="50800" tIns="50800" rIns="50800" bIns="50800" rtlCol="0" anchor="t"/>
            <a:lstStyle/>
            <a:p>
              <a:pPr algn="l">
                <a:lnSpc>
                  <a:spcPts val="1199"/>
                </a:lnSpc>
              </a:pPr>
              <a:endParaRPr lang="en-US" sz="2400">
                <a:solidFill>
                  <a:srgbClr val="000000"/>
                </a:solidFill>
                <a:latin typeface="+mj-lt"/>
                <a:ea typeface="Aptos"/>
                <a:cs typeface="Aptos"/>
                <a:sym typeface="Aptos"/>
              </a:endParaRPr>
            </a:p>
            <a:p>
              <a:pPr marL="434340" lvl="1" indent="-217170" algn="l"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+mj-lt"/>
                  <a:ea typeface="Aptos"/>
                  <a:cs typeface="Aptos"/>
                  <a:sym typeface="Aptos"/>
                </a:rPr>
                <a:t>Outsourcing </a:t>
              </a:r>
              <a:r>
                <a:rPr lang="en-US" sz="2400" b="1">
                  <a:solidFill>
                    <a:srgbClr val="000000"/>
                  </a:solidFill>
                  <a:latin typeface="+mj-lt"/>
                  <a:ea typeface="Aptos Bold"/>
                  <a:cs typeface="Aptos Bold"/>
                  <a:sym typeface="Aptos Bold"/>
                </a:rPr>
                <a:t>factories at capacity </a:t>
              </a:r>
              <a:r>
                <a:rPr lang="en-US" sz="2400">
                  <a:solidFill>
                    <a:srgbClr val="000000"/>
                  </a:solidFill>
                  <a:latin typeface="+mj-lt"/>
                  <a:ea typeface="Aptos"/>
                  <a:cs typeface="Aptos"/>
                  <a:sym typeface="Aptos"/>
                </a:rPr>
                <a:t>due to anticipatory tariff orders</a:t>
              </a:r>
            </a:p>
            <a:p>
              <a:pPr algn="l"/>
              <a:endParaRPr lang="en-US" sz="1000">
                <a:solidFill>
                  <a:srgbClr val="000000"/>
                </a:solidFill>
                <a:latin typeface="+mj-lt"/>
                <a:ea typeface="Aptos"/>
                <a:cs typeface="Aptos"/>
                <a:sym typeface="Aptos"/>
              </a:endParaRPr>
            </a:p>
            <a:p>
              <a:pPr marL="434340" lvl="1" indent="-217170" algn="l">
                <a:buFont typeface="Arial"/>
                <a:buChar char="•"/>
              </a:pPr>
              <a:r>
                <a:rPr lang="en-US" sz="2400">
                  <a:solidFill>
                    <a:srgbClr val="000000"/>
                  </a:solidFill>
                  <a:latin typeface="+mj-lt"/>
                  <a:ea typeface="Aptos"/>
                  <a:cs typeface="Aptos"/>
                  <a:sym typeface="Aptos"/>
                </a:rPr>
                <a:t>General move out of China puts suppliers and potential partners in the driver’s seat</a:t>
              </a:r>
            </a:p>
            <a:p>
              <a:pPr marL="1120140" lvl="2" indent="-373380" algn="l">
                <a:buFont typeface="Arial"/>
                <a:buChar char="⚬"/>
              </a:pPr>
              <a:r>
                <a:rPr lang="en-US" sz="2400">
                  <a:solidFill>
                    <a:srgbClr val="000000"/>
                  </a:solidFill>
                  <a:latin typeface="+mj-lt"/>
                  <a:ea typeface="Aptos"/>
                  <a:cs typeface="Aptos"/>
                  <a:sym typeface="Aptos"/>
                </a:rPr>
                <a:t>They can cherry-pick customers</a:t>
              </a:r>
            </a:p>
          </p:txBody>
        </p:sp>
      </p:grpSp>
      <p:pic>
        <p:nvPicPr>
          <p:cNvPr id="6" name="Picture 5" descr="A blue graph with black background&#10;&#10;AI-generated content may be incorrect.">
            <a:extLst>
              <a:ext uri="{FF2B5EF4-FFF2-40B4-BE49-F238E27FC236}">
                <a16:creationId xmlns:a16="http://schemas.microsoft.com/office/drawing/2014/main" id="{B49D5003-2867-79DE-5149-863134DC13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73358"/>
            <a:ext cx="10139266" cy="760445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C80DBB1-1CE0-0514-B774-54FEEDD72A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6826169"/>
              </p:ext>
            </p:extLst>
          </p:nvPr>
        </p:nvGraphicFramePr>
        <p:xfrm>
          <a:off x="9829784" y="1311385"/>
          <a:ext cx="4038618" cy="2999090"/>
        </p:xfrm>
        <a:graphic>
          <a:graphicData uri="http://schemas.openxmlformats.org/drawingml/2006/table">
            <a:tbl>
              <a:tblPr bandRow="1"/>
              <a:tblGrid>
                <a:gridCol w="1902810">
                  <a:extLst>
                    <a:ext uri="{9D8B030D-6E8A-4147-A177-3AD203B41FA5}">
                      <a16:colId xmlns:a16="http://schemas.microsoft.com/office/drawing/2014/main" val="1114517384"/>
                    </a:ext>
                  </a:extLst>
                </a:gridCol>
                <a:gridCol w="2135808">
                  <a:extLst>
                    <a:ext uri="{9D8B030D-6E8A-4147-A177-3AD203B41FA5}">
                      <a16:colId xmlns:a16="http://schemas.microsoft.com/office/drawing/2014/main" val="1616808801"/>
                    </a:ext>
                  </a:extLst>
                </a:gridCol>
              </a:tblGrid>
              <a:tr h="8106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Product</a:t>
                      </a:r>
                    </a:p>
                  </a:txBody>
                  <a:tcPr marL="41696" marR="41696" marT="1103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% Below 800 pcs</a:t>
                      </a:r>
                    </a:p>
                  </a:txBody>
                  <a:tcPr marL="41696" marR="41696" marT="1103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073569"/>
                  </a:ext>
                </a:extLst>
              </a:tr>
              <a:tr h="4376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HOODIES</a:t>
                      </a:r>
                    </a:p>
                  </a:txBody>
                  <a:tcPr marL="41696" marR="41696" marT="1103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24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30%</a:t>
                      </a:r>
                    </a:p>
                  </a:txBody>
                  <a:tcPr marL="41696" marR="41696" marT="1103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149079"/>
                  </a:ext>
                </a:extLst>
              </a:tr>
              <a:tr h="437679">
                <a:tc>
                  <a:txBody>
                    <a:bodyPr/>
                    <a:lstStyle/>
                    <a:p>
                      <a:pPr marL="0" algn="l" defTabSz="1165677" rtl="0" eaLnBrk="1" fontAlgn="ctr" latinLnBrk="0" hangingPunct="1"/>
                      <a:r>
                        <a:rPr lang="en-AU" sz="24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LEGGINGS</a:t>
                      </a:r>
                    </a:p>
                  </a:txBody>
                  <a:tcPr marL="41696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24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41%</a:t>
                      </a:r>
                    </a:p>
                  </a:txBody>
                  <a:tcPr marL="41696" marR="41696" marT="1103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773694"/>
                  </a:ext>
                </a:extLst>
              </a:tr>
              <a:tr h="437679">
                <a:tc>
                  <a:txBody>
                    <a:bodyPr/>
                    <a:lstStyle/>
                    <a:p>
                      <a:pPr marL="0" algn="l" defTabSz="1165677" rtl="0" eaLnBrk="1" fontAlgn="ctr" latinLnBrk="0" hangingPunct="1"/>
                      <a:r>
                        <a:rPr lang="en-AU" sz="24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JACKET</a:t>
                      </a:r>
                    </a:p>
                  </a:txBody>
                  <a:tcPr marL="41696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24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48%</a:t>
                      </a:r>
                    </a:p>
                  </a:txBody>
                  <a:tcPr marL="41696" marR="41696" marT="1103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863509"/>
                  </a:ext>
                </a:extLst>
              </a:tr>
              <a:tr h="437679">
                <a:tc>
                  <a:txBody>
                    <a:bodyPr/>
                    <a:lstStyle/>
                    <a:p>
                      <a:pPr marL="0" algn="l" defTabSz="1165677" rtl="0" eaLnBrk="1" fontAlgn="ctr" latinLnBrk="0" hangingPunct="1"/>
                      <a:r>
                        <a:rPr lang="en-AU" sz="24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SHORTS</a:t>
                      </a:r>
                    </a:p>
                  </a:txBody>
                  <a:tcPr marL="41696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24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55%</a:t>
                      </a:r>
                    </a:p>
                  </a:txBody>
                  <a:tcPr marL="41696" marR="41696" marT="1103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261336"/>
                  </a:ext>
                </a:extLst>
              </a:tr>
              <a:tr h="437679"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2400" b="1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DRESS</a:t>
                      </a:r>
                    </a:p>
                  </a:txBody>
                  <a:tcPr marL="41696" marR="4169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24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78%</a:t>
                      </a:r>
                    </a:p>
                  </a:txBody>
                  <a:tcPr marL="41696" marR="41696" marT="1103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08136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F51CCBC2-DEA1-D0ED-26AB-4CB0979F23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768759"/>
              </p:ext>
            </p:extLst>
          </p:nvPr>
        </p:nvGraphicFramePr>
        <p:xfrm>
          <a:off x="13868401" y="1311384"/>
          <a:ext cx="4150765" cy="2999090"/>
        </p:xfrm>
        <a:graphic>
          <a:graphicData uri="http://schemas.openxmlformats.org/drawingml/2006/table">
            <a:tbl>
              <a:tblPr bandRow="1"/>
              <a:tblGrid>
                <a:gridCol w="2077877">
                  <a:extLst>
                    <a:ext uri="{9D8B030D-6E8A-4147-A177-3AD203B41FA5}">
                      <a16:colId xmlns:a16="http://schemas.microsoft.com/office/drawing/2014/main" val="1114517384"/>
                    </a:ext>
                  </a:extLst>
                </a:gridCol>
                <a:gridCol w="2072888">
                  <a:extLst>
                    <a:ext uri="{9D8B030D-6E8A-4147-A177-3AD203B41FA5}">
                      <a16:colId xmlns:a16="http://schemas.microsoft.com/office/drawing/2014/main" val="1616808801"/>
                    </a:ext>
                  </a:extLst>
                </a:gridCol>
              </a:tblGrid>
              <a:tr h="810695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Customer</a:t>
                      </a:r>
                    </a:p>
                  </a:txBody>
                  <a:tcPr marL="41696" marR="41696" marT="11032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400" b="1" i="0" u="none" strike="noStrike">
                          <a:solidFill>
                            <a:srgbClr val="FFFFFF"/>
                          </a:solidFill>
                          <a:effectLst/>
                          <a:latin typeface="+mj-lt"/>
                        </a:rPr>
                        <a:t>% Below 800 pcs</a:t>
                      </a:r>
                    </a:p>
                  </a:txBody>
                  <a:tcPr marL="41696" marR="41696" marT="1103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1073569"/>
                  </a:ext>
                </a:extLst>
              </a:tr>
              <a:tr h="4376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Greyson</a:t>
                      </a:r>
                    </a:p>
                  </a:txBody>
                  <a:tcPr marL="41696" marR="41696" marT="1103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24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68%</a:t>
                      </a:r>
                    </a:p>
                  </a:txBody>
                  <a:tcPr marL="41696" marR="41696" marT="11032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149079"/>
                  </a:ext>
                </a:extLst>
              </a:tr>
              <a:tr h="437679">
                <a:tc>
                  <a:txBody>
                    <a:bodyPr/>
                    <a:lstStyle/>
                    <a:p>
                      <a:pPr marL="0" algn="l" defTabSz="1165677" rtl="0" eaLnBrk="1" fontAlgn="ctr" latinLnBrk="0" hangingPunct="1"/>
                      <a:r>
                        <a:rPr lang="en-AU" sz="24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Bad Birdie</a:t>
                      </a:r>
                    </a:p>
                  </a:txBody>
                  <a:tcPr marL="41696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24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72%</a:t>
                      </a:r>
                    </a:p>
                  </a:txBody>
                  <a:tcPr marL="41696" marR="41696" marT="1103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773694"/>
                  </a:ext>
                </a:extLst>
              </a:tr>
              <a:tr h="437679">
                <a:tc>
                  <a:txBody>
                    <a:bodyPr/>
                    <a:lstStyle/>
                    <a:p>
                      <a:pPr marL="0" algn="l" defTabSz="1165677" rtl="0" eaLnBrk="1" fontAlgn="ctr" latinLnBrk="0" hangingPunct="1"/>
                      <a:r>
                        <a:rPr lang="en-AU" sz="24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Spirit. Gang.</a:t>
                      </a:r>
                    </a:p>
                  </a:txBody>
                  <a:tcPr marL="41696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24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61%</a:t>
                      </a:r>
                    </a:p>
                  </a:txBody>
                  <a:tcPr marL="41696" marR="41696" marT="1103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863509"/>
                  </a:ext>
                </a:extLst>
              </a:tr>
              <a:tr h="437679">
                <a:tc>
                  <a:txBody>
                    <a:bodyPr/>
                    <a:lstStyle/>
                    <a:p>
                      <a:pPr marL="0" algn="l" defTabSz="1165677" rtl="0" eaLnBrk="1" fontAlgn="ctr" latinLnBrk="0" hangingPunct="1"/>
                      <a:r>
                        <a:rPr lang="en-AU" sz="24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Peloton</a:t>
                      </a:r>
                    </a:p>
                  </a:txBody>
                  <a:tcPr marL="41696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24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26%</a:t>
                      </a:r>
                    </a:p>
                  </a:txBody>
                  <a:tcPr marL="41696" marR="41696" marT="1103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261336"/>
                  </a:ext>
                </a:extLst>
              </a:tr>
              <a:tr h="437679">
                <a:tc>
                  <a:txBody>
                    <a:bodyPr/>
                    <a:lstStyle/>
                    <a:p>
                      <a:pPr algn="l" rtl="0" fontAlgn="ctr"/>
                      <a:r>
                        <a:rPr lang="en-AU" sz="2400" b="1" i="0" u="none" strike="noStrike">
                          <a:solidFill>
                            <a:schemeClr val="tx1"/>
                          </a:solidFill>
                          <a:effectLst/>
                          <a:latin typeface="+mj-lt"/>
                        </a:rPr>
                        <a:t>ALWRLD</a:t>
                      </a:r>
                    </a:p>
                  </a:txBody>
                  <a:tcPr marL="41696" marR="41696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24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95%</a:t>
                      </a:r>
                    </a:p>
                  </a:txBody>
                  <a:tcPr marL="41696" marR="41696" marT="11032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07744"/>
                  </a:ext>
                </a:extLst>
              </a:tr>
            </a:tbl>
          </a:graphicData>
        </a:graphic>
      </p:graphicFrame>
      <p:sp>
        <p:nvSpPr>
          <p:cNvPr id="10" name="Freeform 17">
            <a:extLst>
              <a:ext uri="{FF2B5EF4-FFF2-40B4-BE49-F238E27FC236}">
                <a16:creationId xmlns:a16="http://schemas.microsoft.com/office/drawing/2014/main" id="{2B771D41-4FC8-6903-B855-B7EE2B82F0B1}"/>
              </a:ext>
            </a:extLst>
          </p:cNvPr>
          <p:cNvSpPr/>
          <p:nvPr/>
        </p:nvSpPr>
        <p:spPr>
          <a:xfrm>
            <a:off x="9829784" y="4310474"/>
            <a:ext cx="8189382" cy="1365109"/>
          </a:xfrm>
          <a:custGeom>
            <a:avLst/>
            <a:gdLst/>
            <a:ahLst/>
            <a:cxnLst/>
            <a:rect l="l" t="t" r="r" b="b"/>
            <a:pathLst>
              <a:path w="2261667" h="993525">
                <a:moveTo>
                  <a:pt x="0" y="0"/>
                </a:moveTo>
                <a:lnTo>
                  <a:pt x="2261667" y="0"/>
                </a:lnTo>
                <a:lnTo>
                  <a:pt x="2261667" y="993525"/>
                </a:lnTo>
                <a:lnTo>
                  <a:pt x="0" y="993525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</p:spPr>
        <p:txBody>
          <a:bodyPr/>
          <a:lstStyle/>
          <a:p>
            <a:r>
              <a:rPr lang="en-US" sz="2400" b="1"/>
              <a:t>Difficult to source smaller orders &lt;800 pcs</a:t>
            </a:r>
          </a:p>
          <a:p>
            <a:r>
              <a:rPr lang="en-US" sz="2400"/>
              <a:t>COO partners either refuse or quote very high prices of 2-3 times normal rate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F8860-3867-6156-A238-D8C75C613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82AAEFB1-E873-E987-88BD-612BA266D0DF}"/>
              </a:ext>
            </a:extLst>
          </p:cNvPr>
          <p:cNvSpPr/>
          <p:nvPr/>
        </p:nvSpPr>
        <p:spPr>
          <a:xfrm rot="2806">
            <a:off x="-7474" y="1126911"/>
            <a:ext cx="18302947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Box 7">
            <a:extLst>
              <a:ext uri="{FF2B5EF4-FFF2-40B4-BE49-F238E27FC236}">
                <a16:creationId xmlns:a16="http://schemas.microsoft.com/office/drawing/2014/main" id="{903135DA-2913-8F6A-E232-B1E31C47EAAB}"/>
              </a:ext>
            </a:extLst>
          </p:cNvPr>
          <p:cNvSpPr txBox="1"/>
          <p:nvPr/>
        </p:nvSpPr>
        <p:spPr>
          <a:xfrm>
            <a:off x="718954" y="336840"/>
            <a:ext cx="14112406" cy="379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9"/>
              </a:lnSpc>
            </a:pPr>
            <a:r>
              <a:rPr lang="en-US" sz="2823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Agenda</a:t>
            </a:r>
          </a:p>
        </p:txBody>
      </p:sp>
      <p:sp>
        <p:nvSpPr>
          <p:cNvPr id="8" name="Freeform 8" descr="A person in a sports garment  AI-generated content may be incorrect.">
            <a:extLst>
              <a:ext uri="{FF2B5EF4-FFF2-40B4-BE49-F238E27FC236}">
                <a16:creationId xmlns:a16="http://schemas.microsoft.com/office/drawing/2014/main" id="{7BAD8411-E50C-5803-8FB9-274B2889B837}"/>
              </a:ext>
            </a:extLst>
          </p:cNvPr>
          <p:cNvSpPr/>
          <p:nvPr/>
        </p:nvSpPr>
        <p:spPr>
          <a:xfrm>
            <a:off x="579991" y="1374260"/>
            <a:ext cx="5451072" cy="8046009"/>
          </a:xfrm>
          <a:custGeom>
            <a:avLst/>
            <a:gdLst/>
            <a:ahLst/>
            <a:cxnLst/>
            <a:rect l="l" t="t" r="r" b="b"/>
            <a:pathLst>
              <a:path w="5451072" h="8046009">
                <a:moveTo>
                  <a:pt x="0" y="0"/>
                </a:moveTo>
                <a:lnTo>
                  <a:pt x="5451071" y="0"/>
                </a:lnTo>
                <a:lnTo>
                  <a:pt x="5451071" y="8046009"/>
                </a:lnTo>
                <a:lnTo>
                  <a:pt x="0" y="80460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7" t="-1322" r="-1395" b="-5022"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B2C28199-0961-7055-E9FB-404A9389FF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6727743"/>
              </p:ext>
            </p:extLst>
          </p:nvPr>
        </p:nvGraphicFramePr>
        <p:xfrm>
          <a:off x="6096000" y="1374260"/>
          <a:ext cx="11534588" cy="8046009"/>
        </p:xfrm>
        <a:graphic>
          <a:graphicData uri="http://schemas.openxmlformats.org/drawingml/2006/table">
            <a:tbl>
              <a:tblPr/>
              <a:tblGrid>
                <a:gridCol w="2025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9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6285">
                <a:tc>
                  <a:txBody>
                    <a:bodyPr/>
                    <a:lstStyle/>
                    <a:p>
                      <a:pPr algn="ctr">
                        <a:lnSpc>
                          <a:spcPts val="3388"/>
                        </a:lnSpc>
                        <a:defRPr/>
                      </a:pPr>
                      <a:r>
                        <a:rPr lang="en-US" sz="2823" b="1">
                          <a:solidFill>
                            <a:srgbClr val="8C7458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Part 1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88"/>
                        </a:lnSpc>
                        <a:defRPr/>
                      </a:pPr>
                      <a:r>
                        <a:rPr lang="en-US" sz="2823" b="1">
                          <a:solidFill>
                            <a:srgbClr val="000000"/>
                          </a:solidFill>
                          <a:latin typeface="Aptos Bold"/>
                          <a:sym typeface="Aptos Bold"/>
                        </a:rPr>
                        <a:t>Problem Statement and Solution Options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285">
                <a:tc>
                  <a:txBody>
                    <a:bodyPr/>
                    <a:lstStyle/>
                    <a:p>
                      <a:pPr algn="ctr">
                        <a:lnSpc>
                          <a:spcPts val="3388"/>
                        </a:lnSpc>
                        <a:defRPr/>
                      </a:pPr>
                      <a:r>
                        <a:rPr lang="en-US" sz="2823" b="1">
                          <a:solidFill>
                            <a:schemeClr val="tx1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Part 2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88"/>
                        </a:lnSpc>
                        <a:defRPr/>
                      </a:pPr>
                      <a:r>
                        <a:rPr lang="en-US" sz="2823" b="1">
                          <a:solidFill>
                            <a:srgbClr val="000000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Leased Lines (Pros + Cons)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6285">
                <a:tc>
                  <a:txBody>
                    <a:bodyPr/>
                    <a:lstStyle/>
                    <a:p>
                      <a:pPr algn="ctr">
                        <a:lnSpc>
                          <a:spcPts val="3388"/>
                        </a:lnSpc>
                        <a:defRPr/>
                      </a:pPr>
                      <a:r>
                        <a:rPr lang="en-US" sz="2823" b="1">
                          <a:solidFill>
                            <a:srgbClr val="8C7458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Part 3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88"/>
                        </a:lnSpc>
                        <a:defRPr/>
                      </a:pPr>
                      <a:r>
                        <a:rPr lang="en-US" sz="2823" b="1">
                          <a:solidFill>
                            <a:srgbClr val="000000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Commercial analysis of Leased Lines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87154">
                <a:tc>
                  <a:txBody>
                    <a:bodyPr/>
                    <a:lstStyle/>
                    <a:p>
                      <a:pPr algn="ctr">
                        <a:lnSpc>
                          <a:spcPts val="3388"/>
                        </a:lnSpc>
                        <a:defRPr/>
                      </a:pPr>
                      <a:r>
                        <a:rPr lang="en-US" sz="2823" b="1">
                          <a:solidFill>
                            <a:srgbClr val="8C7458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Part 4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88"/>
                        </a:lnSpc>
                        <a:defRPr/>
                      </a:pPr>
                      <a:r>
                        <a:rPr lang="en-US" sz="2823" b="1">
                          <a:solidFill>
                            <a:srgbClr val="000000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Further Considerations and Next Steps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62683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6B1547-612F-D422-5A0B-89CB82F21C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5B9601C-CABF-F441-219F-B07C7894D83D}"/>
              </a:ext>
            </a:extLst>
          </p:cNvPr>
          <p:cNvSpPr/>
          <p:nvPr/>
        </p:nvSpPr>
        <p:spPr>
          <a:xfrm>
            <a:off x="5" y="1223430"/>
            <a:ext cx="18307050" cy="1905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73909E32-C028-71A3-DEB1-B76A9261FED9}"/>
              </a:ext>
            </a:extLst>
          </p:cNvPr>
          <p:cNvSpPr txBox="1"/>
          <p:nvPr/>
        </p:nvSpPr>
        <p:spPr>
          <a:xfrm>
            <a:off x="710671" y="275356"/>
            <a:ext cx="14151844" cy="779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3000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Leasing Lines = securing access to existing capacity (facilities, machines, labor) that works under the direction </a:t>
            </a:r>
            <a:r>
              <a:rPr lang="en-US" sz="30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of AAG </a:t>
            </a:r>
            <a:r>
              <a:rPr lang="en-US" sz="3000" b="1" dirty="0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(responsible for production outcomes)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E2063D8-74F6-500C-00C4-6454CBFF94C8}"/>
              </a:ext>
            </a:extLst>
          </p:cNvPr>
          <p:cNvSpPr/>
          <p:nvPr/>
        </p:nvSpPr>
        <p:spPr>
          <a:xfrm>
            <a:off x="331679" y="1343960"/>
            <a:ext cx="5936839" cy="152861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latin typeface="+mj-lt"/>
              </a:rPr>
              <a:t>Ideal Partner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184C907-BA97-CEC9-D9F0-F1E4C051E765}"/>
              </a:ext>
            </a:extLst>
          </p:cNvPr>
          <p:cNvGrpSpPr/>
          <p:nvPr/>
        </p:nvGrpSpPr>
        <p:grpSpPr>
          <a:xfrm>
            <a:off x="324918" y="2974056"/>
            <a:ext cx="5936840" cy="5627222"/>
            <a:chOff x="710671" y="4173011"/>
            <a:chExt cx="7434393" cy="4291987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84401967-74C3-1928-CE71-BB76E37FD0CE}"/>
                </a:ext>
              </a:extLst>
            </p:cNvPr>
            <p:cNvSpPr/>
            <p:nvPr/>
          </p:nvSpPr>
          <p:spPr>
            <a:xfrm>
              <a:off x="710671" y="4173011"/>
              <a:ext cx="7426552" cy="101263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  <a:latin typeface="+mj-lt"/>
                </a:rPr>
                <a:t>~500 Workers in Size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D7EED03-D46E-C98B-638D-D5DF57983676}"/>
                </a:ext>
              </a:extLst>
            </p:cNvPr>
            <p:cNvSpPr/>
            <p:nvPr/>
          </p:nvSpPr>
          <p:spPr>
            <a:xfrm>
              <a:off x="710671" y="6354071"/>
              <a:ext cx="7426552" cy="101263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  <a:latin typeface="+mj-lt"/>
                </a:rPr>
                <a:t>Does not have any strong development or sales functions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2AA6C55-B1E7-AA48-DBDD-E7FD242AAC15}"/>
                </a:ext>
              </a:extLst>
            </p:cNvPr>
            <p:cNvSpPr/>
            <p:nvPr/>
          </p:nvSpPr>
          <p:spPr>
            <a:xfrm>
              <a:off x="718512" y="5271305"/>
              <a:ext cx="7426552" cy="101263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  <a:latin typeface="+mj-lt"/>
                </a:rPr>
                <a:t>Looking for a long-term partnership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2535F9E-6794-0EE2-CD17-5DEAE07343F3}"/>
                </a:ext>
              </a:extLst>
            </p:cNvPr>
            <p:cNvSpPr/>
            <p:nvPr/>
          </p:nvSpPr>
          <p:spPr>
            <a:xfrm>
              <a:off x="718512" y="7452365"/>
              <a:ext cx="7418711" cy="1012633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rgbClr val="000000"/>
                  </a:solidFill>
                  <a:latin typeface="+mj-lt"/>
                  <a:sym typeface="Canva Sans"/>
                </a:rPr>
                <a:t>Located in a geographic hub</a:t>
              </a:r>
            </a:p>
            <a:p>
              <a:pPr algn="ctr"/>
              <a:r>
                <a:rPr lang="en-US" sz="2400">
                  <a:solidFill>
                    <a:srgbClr val="000000"/>
                  </a:solidFill>
                  <a:latin typeface="+mj-lt"/>
                  <a:sym typeface="Canva Sans"/>
                </a:rPr>
                <a:t>for supply chain effectiveness and management ease</a:t>
              </a:r>
              <a:endParaRPr lang="en-US" sz="2400">
                <a:solidFill>
                  <a:schemeClr val="tx1"/>
                </a:solidFill>
                <a:latin typeface="+mj-lt"/>
              </a:endParaRPr>
            </a:p>
          </p:txBody>
        </p:sp>
      </p:grpSp>
      <p:sp>
        <p:nvSpPr>
          <p:cNvPr id="24" name="Rectangle 23">
            <a:extLst>
              <a:ext uri="{FF2B5EF4-FFF2-40B4-BE49-F238E27FC236}">
                <a16:creationId xmlns:a16="http://schemas.microsoft.com/office/drawing/2014/main" id="{682B21C5-FB11-4102-0904-5475F78E8986}"/>
              </a:ext>
            </a:extLst>
          </p:cNvPr>
          <p:cNvSpPr/>
          <p:nvPr/>
        </p:nvSpPr>
        <p:spPr>
          <a:xfrm>
            <a:off x="6420917" y="1343961"/>
            <a:ext cx="11523553" cy="694047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latin typeface="+mj-lt"/>
              </a:rPr>
              <a:t>Leasing Details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65965C-5063-18B3-E724-C975C2511FAA}"/>
              </a:ext>
            </a:extLst>
          </p:cNvPr>
          <p:cNvSpPr/>
          <p:nvPr/>
        </p:nvSpPr>
        <p:spPr>
          <a:xfrm>
            <a:off x="6437408" y="2868393"/>
            <a:ext cx="5745286" cy="57391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000000"/>
              </a:solidFill>
              <a:latin typeface="+mj-lt"/>
              <a:ea typeface="Canva Sans"/>
              <a:cs typeface="Canva Sans"/>
              <a:sym typeface="Canva Sans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+mj-lt"/>
                <a:ea typeface="Canva Sans"/>
                <a:cs typeface="Canva Sans"/>
                <a:sym typeface="Canva Sans"/>
              </a:rPr>
              <a:t>Capacity paid for by </a:t>
            </a:r>
            <a:r>
              <a:rPr lang="en-US" sz="2400" b="1" dirty="0">
                <a:solidFill>
                  <a:srgbClr val="000000"/>
                </a:solidFill>
                <a:latin typeface="+mj-lt"/>
                <a:ea typeface="Canva Sans"/>
                <a:cs typeface="Canva Sans"/>
                <a:sym typeface="Canva Sans"/>
              </a:rPr>
              <a:t>actual cost + model</a:t>
            </a:r>
          </a:p>
          <a:p>
            <a:pPr marL="914400" lvl="1" indent="-457200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000000"/>
                </a:solidFill>
                <a:latin typeface="+mj-lt"/>
                <a:ea typeface="Canva Sans"/>
                <a:cs typeface="Canva Sans"/>
                <a:sym typeface="Canva Sans"/>
              </a:rPr>
              <a:t>Sales value from the lines production accrue </a:t>
            </a:r>
            <a:r>
              <a:rPr lang="en-US" sz="2400">
                <a:solidFill>
                  <a:srgbClr val="000000"/>
                </a:solidFill>
                <a:latin typeface="+mj-lt"/>
                <a:ea typeface="Canva Sans"/>
                <a:cs typeface="Canva Sans"/>
                <a:sym typeface="Canva Sans"/>
              </a:rPr>
              <a:t>to AAG </a:t>
            </a:r>
            <a:r>
              <a:rPr lang="en-US" sz="2400" dirty="0">
                <a:solidFill>
                  <a:srgbClr val="000000"/>
                </a:solidFill>
                <a:latin typeface="+mj-lt"/>
                <a:ea typeface="Canva Sans"/>
                <a:cs typeface="Canva Sans"/>
                <a:sym typeface="Canva Sans"/>
              </a:rPr>
              <a:t>to offset the costs </a:t>
            </a:r>
          </a:p>
          <a:p>
            <a:endParaRPr lang="en-US" sz="1000" dirty="0">
              <a:solidFill>
                <a:srgbClr val="000000"/>
              </a:solidFill>
              <a:latin typeface="+mj-lt"/>
              <a:ea typeface="Canva Sans"/>
              <a:cs typeface="Canva Sans"/>
              <a:sym typeface="Canva Sans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0000"/>
                </a:solidFill>
                <a:latin typeface="+mj-lt"/>
                <a:ea typeface="Canva Sans"/>
                <a:cs typeface="Canva Sans"/>
                <a:sym typeface="Canva Sans"/>
              </a:rPr>
              <a:t>Margin to the partner is either on a    cost + fixed margin or on a variable margin depending on Cut Make Profit from the line </a:t>
            </a:r>
            <a:r>
              <a:rPr lang="en-US" sz="2400" b="1" dirty="0">
                <a:solidFill>
                  <a:srgbClr val="000000"/>
                </a:solidFill>
                <a:latin typeface="+mj-lt"/>
                <a:ea typeface="Canva Sans"/>
                <a:cs typeface="Canva Sans"/>
                <a:sym typeface="Canva Sans"/>
              </a:rPr>
              <a:t>(All Negotiable)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DA2A8065-77C8-F81B-3F71-8C9037CC34B1}"/>
              </a:ext>
            </a:extLst>
          </p:cNvPr>
          <p:cNvGrpSpPr/>
          <p:nvPr/>
        </p:nvGrpSpPr>
        <p:grpSpPr>
          <a:xfrm>
            <a:off x="6427675" y="2139489"/>
            <a:ext cx="11523436" cy="733088"/>
            <a:chOff x="6427675" y="2263467"/>
            <a:chExt cx="11523436" cy="609110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D06FD4E9-2AE0-1425-B851-9DCD8780A686}"/>
                </a:ext>
              </a:extLst>
            </p:cNvPr>
            <p:cNvSpPr/>
            <p:nvPr/>
          </p:nvSpPr>
          <p:spPr>
            <a:xfrm>
              <a:off x="6427675" y="2267651"/>
              <a:ext cx="5745286" cy="60492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latin typeface="+mj-lt"/>
                </a:rPr>
                <a:t>Partner Compensation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F97224A-3025-FF0B-00DC-2E56B84C5423}"/>
                </a:ext>
              </a:extLst>
            </p:cNvPr>
            <p:cNvSpPr/>
            <p:nvPr/>
          </p:nvSpPr>
          <p:spPr>
            <a:xfrm>
              <a:off x="12364605" y="2263467"/>
              <a:ext cx="5586506" cy="604926"/>
            </a:xfrm>
            <a:prstGeom prst="rect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2">
                <a:shade val="15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400">
                  <a:solidFill>
                    <a:schemeClr val="tx1"/>
                  </a:solidFill>
                  <a:latin typeface="+mj-lt"/>
                </a:rPr>
                <a:t>In an ideal world…</a:t>
              </a:r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1060CF48-3DDC-D06A-2F2D-0C7F521499A4}"/>
              </a:ext>
            </a:extLst>
          </p:cNvPr>
          <p:cNvSpPr/>
          <p:nvPr/>
        </p:nvSpPr>
        <p:spPr>
          <a:xfrm>
            <a:off x="12374433" y="2868393"/>
            <a:ext cx="5588649" cy="5732168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561336" lvl="1" indent="-280668" algn="l">
              <a:spcBef>
                <a:spcPct val="0"/>
              </a:spcBef>
              <a:buFont typeface="Arial"/>
              <a:buChar char="•"/>
            </a:pPr>
            <a:endParaRPr lang="en-US" sz="2400" dirty="0">
              <a:solidFill>
                <a:srgbClr val="000000"/>
              </a:solidFill>
              <a:latin typeface="+mj-lt"/>
              <a:ea typeface="Canva Sans"/>
              <a:cs typeface="Canva Sans"/>
              <a:sym typeface="Canva Sans"/>
            </a:endParaRPr>
          </a:p>
          <a:p>
            <a:pPr marL="561336" lvl="1" indent="-280668" algn="l"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+mj-lt"/>
                <a:ea typeface="Canva Sans"/>
                <a:cs typeface="Canva Sans"/>
                <a:sym typeface="Canva Sans"/>
              </a:rPr>
              <a:t>Partner has</a:t>
            </a:r>
            <a:r>
              <a:rPr lang="en-US" sz="2400" b="1" dirty="0">
                <a:solidFill>
                  <a:srgbClr val="000000"/>
                </a:solidFill>
                <a:latin typeface="+mj-lt"/>
                <a:ea typeface="Canva Sans"/>
                <a:cs typeface="Canva Sans"/>
                <a:sym typeface="Canva Sans"/>
              </a:rPr>
              <a:t> space for expansion, </a:t>
            </a:r>
            <a:r>
              <a:rPr lang="en-US" sz="2400" dirty="0">
                <a:solidFill>
                  <a:srgbClr val="000000"/>
                </a:solidFill>
                <a:latin typeface="+mj-lt"/>
                <a:ea typeface="Canva Sans"/>
                <a:cs typeface="Canva Sans"/>
                <a:sym typeface="Canva Sans"/>
              </a:rPr>
              <a:t>not leasing lines from capacity</a:t>
            </a:r>
          </a:p>
          <a:p>
            <a:pPr marL="280668" lvl="1" algn="l">
              <a:spcBef>
                <a:spcPct val="0"/>
              </a:spcBef>
            </a:pPr>
            <a:endParaRPr lang="en-US" sz="1000" dirty="0">
              <a:solidFill>
                <a:srgbClr val="000000"/>
              </a:solidFill>
              <a:latin typeface="+mj-lt"/>
              <a:ea typeface="Canva Sans"/>
              <a:cs typeface="Canva Sans"/>
              <a:sym typeface="Canva Sans"/>
            </a:endParaRPr>
          </a:p>
          <a:p>
            <a:pPr marL="561336" lvl="1" indent="-280668">
              <a:spcBef>
                <a:spcPct val="0"/>
              </a:spcBef>
              <a:buFont typeface="Arial"/>
              <a:buChar char="•"/>
            </a:pPr>
            <a:r>
              <a:rPr lang="en-US" sz="2400" dirty="0">
                <a:solidFill>
                  <a:srgbClr val="000000"/>
                </a:solidFill>
                <a:latin typeface="+mj-lt"/>
                <a:ea typeface="Canva Sans"/>
                <a:cs typeface="Canva Sans"/>
                <a:sym typeface="Canva Sans"/>
              </a:rPr>
              <a:t>We’ll concentrate </a:t>
            </a:r>
            <a:r>
              <a:rPr lang="en-US" sz="2400" b="1" dirty="0">
                <a:solidFill>
                  <a:schemeClr val="tx1"/>
                </a:solidFill>
                <a:latin typeface="+mj-lt"/>
                <a:ea typeface="Canva Sans"/>
                <a:cs typeface="Canva Sans"/>
                <a:sym typeface="Canva Sans"/>
              </a:rPr>
              <a:t>at least </a:t>
            </a:r>
            <a:r>
              <a:rPr lang="en-US" sz="2400" b="1" dirty="0">
                <a:solidFill>
                  <a:srgbClr val="000000"/>
                </a:solidFill>
                <a:latin typeface="+mj-lt"/>
                <a:ea typeface="Canva Sans"/>
                <a:cs typeface="Canva Sans"/>
                <a:sym typeface="Canva Sans"/>
              </a:rPr>
              <a:t>2 lines </a:t>
            </a:r>
            <a:r>
              <a:rPr lang="en-US" sz="2400" dirty="0">
                <a:solidFill>
                  <a:srgbClr val="000000"/>
                </a:solidFill>
                <a:latin typeface="+mj-lt"/>
                <a:ea typeface="Canva Sans"/>
                <a:cs typeface="Canva Sans"/>
                <a:sym typeface="Canva Sans"/>
              </a:rPr>
              <a:t>in one location</a:t>
            </a:r>
          </a:p>
          <a:p>
            <a:pPr marL="1080768" lvl="2" indent="-342900">
              <a:spcBef>
                <a:spcPct val="0"/>
              </a:spcBef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000000"/>
                </a:solidFill>
                <a:latin typeface="+mj-lt"/>
                <a:ea typeface="Canva Sans"/>
                <a:cs typeface="Canva Sans"/>
                <a:sym typeface="Canva Sans"/>
              </a:rPr>
              <a:t>depending on the range of categories the site can make </a:t>
            </a:r>
            <a:r>
              <a:rPr lang="en-US" sz="2400" b="1" dirty="0">
                <a:solidFill>
                  <a:srgbClr val="000000"/>
                </a:solidFill>
                <a:latin typeface="+mj-lt"/>
                <a:ea typeface="Canva Sans"/>
                <a:cs typeface="Canva Sans"/>
                <a:sym typeface="Canva Sans"/>
              </a:rPr>
              <a:t>(more lines is better)</a:t>
            </a:r>
          </a:p>
          <a:p>
            <a:pPr marL="737868" lvl="2">
              <a:spcBef>
                <a:spcPct val="0"/>
              </a:spcBef>
            </a:pPr>
            <a:endParaRPr lang="en-US" sz="1000" dirty="0">
              <a:solidFill>
                <a:srgbClr val="000000"/>
              </a:solidFill>
              <a:latin typeface="+mj-lt"/>
              <a:ea typeface="Canva Sans"/>
              <a:cs typeface="Canva Sans"/>
              <a:sym typeface="Canva Sans"/>
            </a:endParaRPr>
          </a:p>
          <a:p>
            <a:pPr marL="623568" lvl="1" indent="-342900">
              <a:spcBef>
                <a:spcPct val="0"/>
              </a:spcBef>
              <a:buFont typeface="Arial" panose="020B0604020202020204" pitchFamily="34" charset="0"/>
              <a:buChar char="•"/>
            </a:pPr>
            <a:r>
              <a:rPr lang="en-US" sz="2400">
                <a:solidFill>
                  <a:srgbClr val="000000"/>
                </a:solidFill>
                <a:latin typeface="+mj-lt"/>
                <a:ea typeface="Canva Sans"/>
                <a:cs typeface="Canva Sans"/>
                <a:sym typeface="Canva Sans"/>
              </a:rPr>
              <a:t>AAG </a:t>
            </a:r>
            <a:r>
              <a:rPr lang="en-US" sz="2400" dirty="0">
                <a:solidFill>
                  <a:srgbClr val="000000"/>
                </a:solidFill>
                <a:latin typeface="+mj-lt"/>
                <a:ea typeface="Canva Sans"/>
                <a:cs typeface="Canva Sans"/>
                <a:sym typeface="Canva Sans"/>
              </a:rPr>
              <a:t>can place </a:t>
            </a:r>
            <a:r>
              <a:rPr lang="en-US" sz="2400" b="1" dirty="0">
                <a:solidFill>
                  <a:srgbClr val="000000"/>
                </a:solidFill>
                <a:latin typeface="+mj-lt"/>
                <a:ea typeface="Canva Sans"/>
                <a:cs typeface="Canva Sans"/>
                <a:sym typeface="Canva Sans"/>
              </a:rPr>
              <a:t>small or big orders </a:t>
            </a:r>
            <a:r>
              <a:rPr lang="en-US" sz="2400" dirty="0">
                <a:solidFill>
                  <a:srgbClr val="000000"/>
                </a:solidFill>
                <a:latin typeface="+mj-lt"/>
                <a:ea typeface="Canva Sans"/>
                <a:cs typeface="Canva Sans"/>
                <a:sym typeface="Canva Sans"/>
              </a:rPr>
              <a:t>on those lines as required by demand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FCB6CE0-3676-E177-75BE-09E081E2CE14}"/>
              </a:ext>
            </a:extLst>
          </p:cNvPr>
          <p:cNvSpPr/>
          <p:nvPr/>
        </p:nvSpPr>
        <p:spPr>
          <a:xfrm>
            <a:off x="350291" y="8751252"/>
            <a:ext cx="17612791" cy="1260392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302258" lvl="1" algn="ctr">
              <a:lnSpc>
                <a:spcPts val="3919"/>
              </a:lnSpc>
            </a:pPr>
            <a:r>
              <a:rPr lang="en-US" sz="2400">
                <a:solidFill>
                  <a:schemeClr val="bg1"/>
                </a:solidFill>
                <a:latin typeface="+mj-lt"/>
                <a:sym typeface="Canva Sans"/>
              </a:rPr>
              <a:t>Leased lines would be in COO Partner facilities with a preference that partner is also a COO partner (producing larger orders)</a:t>
            </a:r>
          </a:p>
        </p:txBody>
      </p:sp>
    </p:spTree>
    <p:extLst>
      <p:ext uri="{BB962C8B-B14F-4D97-AF65-F5344CB8AC3E}">
        <p14:creationId xmlns:p14="http://schemas.microsoft.com/office/powerpoint/2010/main" val="42381002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75100-4C32-6A11-9166-5F01AD313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D8DFF32F-B7AC-9E96-C1E4-F9670E2ED4CA}"/>
              </a:ext>
            </a:extLst>
          </p:cNvPr>
          <p:cNvSpPr/>
          <p:nvPr/>
        </p:nvSpPr>
        <p:spPr>
          <a:xfrm>
            <a:off x="5" y="1223430"/>
            <a:ext cx="18307050" cy="1905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1BFB11F-A552-E345-6BEF-75347797F021}"/>
              </a:ext>
            </a:extLst>
          </p:cNvPr>
          <p:cNvSpPr txBox="1"/>
          <p:nvPr/>
        </p:nvSpPr>
        <p:spPr>
          <a:xfrm>
            <a:off x="274276" y="225211"/>
            <a:ext cx="14813324" cy="773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30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The concept, put into lower cost countries allows development of small order expertise as well as access to flexible capacity without high up-front costs.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72C049-CA0E-C1D7-DD52-31EA16E254A7}"/>
              </a:ext>
            </a:extLst>
          </p:cNvPr>
          <p:cNvSpPr txBox="1"/>
          <p:nvPr/>
        </p:nvSpPr>
        <p:spPr>
          <a:xfrm>
            <a:off x="500743" y="1365024"/>
            <a:ext cx="74193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Pros</a:t>
            </a: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5648BBEB-F3F6-F04A-F91F-D9ED722D8D52}"/>
              </a:ext>
            </a:extLst>
          </p:cNvPr>
          <p:cNvSpPr/>
          <p:nvPr/>
        </p:nvSpPr>
        <p:spPr>
          <a:xfrm>
            <a:off x="506186" y="1772661"/>
            <a:ext cx="17031691" cy="17723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27547C-9465-4459-D816-8502F0C7E79C}"/>
              </a:ext>
            </a:extLst>
          </p:cNvPr>
          <p:cNvSpPr txBox="1"/>
          <p:nvPr/>
        </p:nvSpPr>
        <p:spPr>
          <a:xfrm>
            <a:off x="409279" y="1848015"/>
            <a:ext cx="1700800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86930" lvl="1" indent="-348044">
              <a:buFont typeface="Arial"/>
              <a:buChar char="⚬"/>
            </a:pPr>
            <a:r>
              <a:rPr lang="en-US" sz="2400" dirty="0">
                <a:latin typeface="+mj-lt"/>
              </a:rPr>
              <a:t>Taking advantage of </a:t>
            </a:r>
            <a:r>
              <a:rPr lang="en-US" sz="2400" b="1" dirty="0">
                <a:latin typeface="+mj-lt"/>
              </a:rPr>
              <a:t>existing factory’s </a:t>
            </a:r>
            <a:r>
              <a:rPr lang="en-US" sz="2400" dirty="0">
                <a:latin typeface="+mj-lt"/>
              </a:rPr>
              <a:t>infrastructure and facilities</a:t>
            </a:r>
          </a:p>
          <a:p>
            <a:pPr marL="586930" lvl="1" indent="-348044">
              <a:buFont typeface="Arial"/>
              <a:buChar char="⚬"/>
            </a:pPr>
            <a:r>
              <a:rPr lang="en-US" sz="2400" b="1" dirty="0">
                <a:solidFill>
                  <a:srgbClr val="000000"/>
                </a:solidFill>
                <a:latin typeface="+mj-lt"/>
                <a:ea typeface="Aptos"/>
                <a:cs typeface="Aptos"/>
                <a:sym typeface="Aptos"/>
              </a:rPr>
              <a:t>Limited CAPEX</a:t>
            </a:r>
          </a:p>
          <a:p>
            <a:pPr marL="1044130" lvl="2" indent="-348044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+mj-lt"/>
                <a:ea typeface="Aptos"/>
                <a:cs typeface="Aptos"/>
                <a:sym typeface="Aptos"/>
              </a:rPr>
              <a:t>May shift CAPEX from Longson</a:t>
            </a:r>
          </a:p>
          <a:p>
            <a:pPr marL="586930" lvl="1" indent="-348044">
              <a:buFont typeface="Arial"/>
              <a:buChar char="⚬"/>
            </a:pPr>
            <a:r>
              <a:rPr lang="en-US" sz="2400">
                <a:solidFill>
                  <a:srgbClr val="000000"/>
                </a:solidFill>
                <a:latin typeface="+mj-lt"/>
                <a:ea typeface="Aptos"/>
                <a:cs typeface="Aptos"/>
                <a:sym typeface="Aptos"/>
              </a:rPr>
              <a:t>AAG </a:t>
            </a:r>
            <a:r>
              <a:rPr lang="en-US" sz="2400" dirty="0">
                <a:solidFill>
                  <a:srgbClr val="000000"/>
                </a:solidFill>
                <a:latin typeface="+mj-lt"/>
                <a:ea typeface="Aptos"/>
                <a:cs typeface="Aptos"/>
                <a:sym typeface="Aptos"/>
              </a:rPr>
              <a:t>has </a:t>
            </a:r>
            <a:r>
              <a:rPr lang="en-US" sz="2400" b="1" dirty="0">
                <a:solidFill>
                  <a:srgbClr val="000000"/>
                </a:solidFill>
                <a:latin typeface="+mj-lt"/>
                <a:ea typeface="Aptos"/>
                <a:cs typeface="Aptos"/>
                <a:sym typeface="Aptos"/>
              </a:rPr>
              <a:t>control</a:t>
            </a:r>
            <a:r>
              <a:rPr lang="en-US" sz="2400" dirty="0">
                <a:solidFill>
                  <a:srgbClr val="000000"/>
                </a:solidFill>
                <a:latin typeface="+mj-lt"/>
                <a:ea typeface="Aptos"/>
                <a:cs typeface="Aptos"/>
                <a:sym typeface="Aptos"/>
              </a:rPr>
              <a:t> over the capacity enabling </a:t>
            </a:r>
            <a:r>
              <a:rPr lang="en-US" sz="2400" b="1" dirty="0">
                <a:solidFill>
                  <a:srgbClr val="000000"/>
                </a:solidFill>
                <a:latin typeface="+mj-lt"/>
                <a:ea typeface="Aptos"/>
                <a:cs typeface="Aptos"/>
                <a:sym typeface="Aptos"/>
              </a:rPr>
              <a:t>small orders production or larger order commitment </a:t>
            </a:r>
            <a:r>
              <a:rPr lang="en-US" sz="2400" dirty="0">
                <a:solidFill>
                  <a:srgbClr val="000000"/>
                </a:solidFill>
                <a:latin typeface="+mj-lt"/>
                <a:ea typeface="Aptos"/>
                <a:cs typeface="Aptos"/>
                <a:sym typeface="Aptos"/>
              </a:rPr>
              <a:t>as required</a:t>
            </a:r>
          </a:p>
          <a:p>
            <a:pPr marL="586930" lvl="1" indent="-348044">
              <a:buFont typeface="Arial"/>
              <a:buChar char="⚬"/>
            </a:pPr>
            <a:r>
              <a:rPr lang="en-US" sz="2400" b="1">
                <a:solidFill>
                  <a:srgbClr val="000000"/>
                </a:solidFill>
                <a:latin typeface="+mj-lt"/>
                <a:ea typeface="Aptos"/>
                <a:cs typeface="Aptos"/>
                <a:sym typeface="Aptos"/>
              </a:rPr>
              <a:t>No AAG </a:t>
            </a:r>
            <a:r>
              <a:rPr lang="en-US" sz="2400" b="1" dirty="0">
                <a:solidFill>
                  <a:srgbClr val="000000"/>
                </a:solidFill>
                <a:latin typeface="+mj-lt"/>
                <a:ea typeface="Aptos"/>
                <a:cs typeface="Aptos"/>
                <a:sym typeface="Aptos"/>
              </a:rPr>
              <a:t>entity required </a:t>
            </a:r>
            <a:r>
              <a:rPr lang="en-US" sz="2400" dirty="0">
                <a:solidFill>
                  <a:srgbClr val="000000"/>
                </a:solidFill>
                <a:latin typeface="+mj-lt"/>
                <a:ea typeface="Aptos"/>
                <a:cs typeface="Aptos"/>
                <a:sym typeface="Aptos"/>
              </a:rPr>
              <a:t>in new country to start</a:t>
            </a:r>
          </a:p>
          <a:p>
            <a:pPr marL="1044130" lvl="2" indent="-348044">
              <a:buFont typeface="Wingdings" panose="05000000000000000000" pitchFamily="2" charset="2"/>
              <a:buChar char="§"/>
            </a:pPr>
            <a:r>
              <a:rPr lang="en-US" sz="2400" dirty="0">
                <a:solidFill>
                  <a:srgbClr val="000000"/>
                </a:solidFill>
                <a:latin typeface="+mj-lt"/>
                <a:ea typeface="Aptos"/>
                <a:cs typeface="Aptos"/>
                <a:sym typeface="Aptos"/>
              </a:rPr>
              <a:t>Need to examine regulatory framework (e.g. Trading entity for Import/export purposes</a:t>
            </a:r>
          </a:p>
          <a:p>
            <a:pPr marL="586930" lvl="1" indent="-348044">
              <a:buFont typeface="Courier New" panose="02070309020205020404" pitchFamily="49" charset="0"/>
              <a:buChar char="o"/>
            </a:pPr>
            <a:r>
              <a:rPr lang="en-US" sz="2400" dirty="0">
                <a:solidFill>
                  <a:srgbClr val="000000"/>
                </a:solidFill>
                <a:latin typeface="+mj-lt"/>
                <a:ea typeface="Aptos"/>
                <a:cs typeface="Aptos"/>
                <a:sym typeface="Aptos"/>
              </a:rPr>
              <a:t>Provides a deep partnership which may allow for future equity, JV, higher control, or expansion into VAP</a:t>
            </a:r>
          </a:p>
          <a:p>
            <a:pPr marL="586930" lvl="1" indent="-348044">
              <a:buFont typeface="Arial"/>
              <a:buChar char="⚬"/>
            </a:pPr>
            <a:r>
              <a:rPr lang="en-US" sz="2400" b="1" dirty="0">
                <a:solidFill>
                  <a:srgbClr val="000000"/>
                </a:solidFill>
                <a:latin typeface="+mj-lt"/>
                <a:ea typeface="Aptos"/>
                <a:cs typeface="Aptos"/>
                <a:sym typeface="Aptos"/>
              </a:rPr>
              <a:t>Speed</a:t>
            </a:r>
            <a:r>
              <a:rPr lang="en-US" sz="2400" dirty="0">
                <a:solidFill>
                  <a:srgbClr val="000000"/>
                </a:solidFill>
                <a:latin typeface="+mj-lt"/>
                <a:ea typeface="Aptos"/>
                <a:cs typeface="Aptos"/>
                <a:sym typeface="Aptos"/>
              </a:rPr>
              <a:t> to start production</a:t>
            </a:r>
          </a:p>
          <a:p>
            <a:pPr marL="586930" lvl="1" indent="-348044">
              <a:buFont typeface="Arial"/>
              <a:buChar char="⚬"/>
            </a:pPr>
            <a:r>
              <a:rPr lang="en-US" sz="2400" dirty="0">
                <a:solidFill>
                  <a:srgbClr val="000000"/>
                </a:solidFill>
                <a:latin typeface="+mj-lt"/>
                <a:ea typeface="Aptos"/>
                <a:cs typeface="Aptos"/>
                <a:sym typeface="Aptos"/>
              </a:rPr>
              <a:t>Can locate lines in more than one country </a:t>
            </a:r>
            <a:r>
              <a:rPr lang="en-US" sz="2400" b="1" dirty="0">
                <a:solidFill>
                  <a:srgbClr val="000000"/>
                </a:solidFill>
                <a:latin typeface="+mj-lt"/>
                <a:ea typeface="Aptos"/>
                <a:cs typeface="Aptos"/>
                <a:sym typeface="Aptos"/>
              </a:rPr>
              <a:t>diversifying risks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168A987-CA3A-5098-DE6A-3D2DCEB6289D}"/>
              </a:ext>
            </a:extLst>
          </p:cNvPr>
          <p:cNvSpPr txBox="1"/>
          <p:nvPr/>
        </p:nvSpPr>
        <p:spPr>
          <a:xfrm>
            <a:off x="409067" y="5209088"/>
            <a:ext cx="8018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/>
              <a:t>Cons</a:t>
            </a:r>
          </a:p>
        </p:txBody>
      </p:sp>
      <p:sp>
        <p:nvSpPr>
          <p:cNvPr id="15" name="AutoShape 2">
            <a:extLst>
              <a:ext uri="{FF2B5EF4-FFF2-40B4-BE49-F238E27FC236}">
                <a16:creationId xmlns:a16="http://schemas.microsoft.com/office/drawing/2014/main" id="{503F62A4-B58C-797D-ABB4-060934741591}"/>
              </a:ext>
            </a:extLst>
          </p:cNvPr>
          <p:cNvSpPr/>
          <p:nvPr/>
        </p:nvSpPr>
        <p:spPr>
          <a:xfrm>
            <a:off x="409067" y="5624885"/>
            <a:ext cx="17112269" cy="19049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D7F754-AD05-10E3-A4AC-676A7E20EDD1}"/>
              </a:ext>
            </a:extLst>
          </p:cNvPr>
          <p:cNvSpPr txBox="1"/>
          <p:nvPr/>
        </p:nvSpPr>
        <p:spPr>
          <a:xfrm>
            <a:off x="409067" y="5722822"/>
            <a:ext cx="17134824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86930" lvl="1" indent="-348044">
              <a:buFont typeface="Arial"/>
              <a:buChar char="⚬"/>
            </a:pPr>
            <a:r>
              <a:rPr lang="en-US" sz="2400" dirty="0">
                <a:latin typeface="+mj-lt"/>
                <a:ea typeface="Aptos"/>
                <a:cs typeface="Aptos"/>
                <a:sym typeface="Aptos"/>
              </a:rPr>
              <a:t>Most partners focus on 2-3 categories within a factory </a:t>
            </a:r>
            <a:r>
              <a:rPr lang="en-US" sz="2400">
                <a:latin typeface="+mj-lt"/>
                <a:ea typeface="Aptos"/>
                <a:cs typeface="Aptos"/>
                <a:sym typeface="Aptos"/>
              </a:rPr>
              <a:t>– AAG </a:t>
            </a:r>
            <a:r>
              <a:rPr lang="en-US" sz="2400" dirty="0">
                <a:latin typeface="+mj-lt"/>
                <a:ea typeface="Aptos"/>
                <a:cs typeface="Aptos"/>
                <a:sym typeface="Aptos"/>
              </a:rPr>
              <a:t>has many categories and </a:t>
            </a:r>
            <a:r>
              <a:rPr lang="en-US" sz="2400" b="1" dirty="0">
                <a:latin typeface="+mj-lt"/>
                <a:ea typeface="Aptos"/>
                <a:cs typeface="Aptos"/>
                <a:sym typeface="Aptos"/>
              </a:rPr>
              <a:t>may need leased lines in 3+ locations </a:t>
            </a:r>
          </a:p>
          <a:p>
            <a:pPr marL="1213009" lvl="2" indent="-417552">
              <a:buFont typeface="Arial"/>
              <a:buChar char="￭"/>
            </a:pPr>
            <a:r>
              <a:rPr lang="en-US" sz="2400" dirty="0">
                <a:latin typeface="+mj-lt"/>
                <a:ea typeface="Aptos"/>
                <a:cs typeface="Aptos"/>
                <a:sym typeface="Aptos"/>
              </a:rPr>
              <a:t>High support costs </a:t>
            </a:r>
          </a:p>
          <a:p>
            <a:pPr marL="1213009" lvl="2" indent="-417552">
              <a:buFont typeface="Arial"/>
              <a:buChar char="￭"/>
            </a:pPr>
            <a:r>
              <a:rPr lang="en-US" sz="2400" dirty="0">
                <a:latin typeface="+mj-lt"/>
                <a:ea typeface="Aptos"/>
                <a:cs typeface="Aptos"/>
                <a:sym typeface="Aptos"/>
              </a:rPr>
              <a:t>Management of orders onto those lines </a:t>
            </a:r>
          </a:p>
          <a:p>
            <a:pPr marL="586930" lvl="1" indent="-348044">
              <a:buFont typeface="Arial"/>
              <a:buChar char="⚬"/>
            </a:pPr>
            <a:r>
              <a:rPr lang="en-US" sz="2400" dirty="0">
                <a:latin typeface="+mj-lt"/>
                <a:ea typeface="Aptos"/>
                <a:cs typeface="Aptos"/>
                <a:sym typeface="Aptos"/>
              </a:rPr>
              <a:t>Small orders have high sample and merch requirements; therefore, partner will have high costs and will be carried </a:t>
            </a:r>
            <a:r>
              <a:rPr lang="en-US" sz="2400">
                <a:latin typeface="+mj-lt"/>
                <a:ea typeface="Aptos"/>
                <a:cs typeface="Aptos"/>
                <a:sym typeface="Aptos"/>
              </a:rPr>
              <a:t>onto AAG</a:t>
            </a:r>
            <a:endParaRPr lang="en-US" sz="2400" dirty="0">
              <a:latin typeface="+mj-lt"/>
              <a:ea typeface="Aptos"/>
              <a:cs typeface="Aptos"/>
              <a:sym typeface="Aptos"/>
            </a:endParaRPr>
          </a:p>
          <a:p>
            <a:pPr marL="586930" lvl="1" indent="-348044">
              <a:buFont typeface="Arial"/>
              <a:buChar char="⚬"/>
            </a:pPr>
            <a:r>
              <a:rPr lang="en-US" sz="2400" dirty="0">
                <a:latin typeface="+mj-lt"/>
                <a:ea typeface="Aptos"/>
                <a:cs typeface="Aptos"/>
                <a:sym typeface="Aptos"/>
              </a:rPr>
              <a:t>Capabilities built on these lines will be shared with partners</a:t>
            </a:r>
            <a:r>
              <a:rPr lang="en-US" sz="2400" b="1" dirty="0">
                <a:latin typeface="+mj-lt"/>
                <a:ea typeface="Aptos"/>
                <a:cs typeface="Aptos"/>
                <a:sym typeface="Aptos"/>
              </a:rPr>
              <a:t>, build competition?</a:t>
            </a:r>
          </a:p>
          <a:p>
            <a:pPr marL="586930" lvl="1" indent="-348044">
              <a:buFont typeface="Arial"/>
              <a:buChar char="⚬"/>
            </a:pPr>
            <a:r>
              <a:rPr lang="en-US" sz="2400">
                <a:latin typeface="+mj-lt"/>
                <a:ea typeface="Aptos"/>
                <a:cs typeface="Aptos"/>
                <a:sym typeface="Aptos"/>
              </a:rPr>
              <a:t>AAG </a:t>
            </a:r>
            <a:r>
              <a:rPr lang="en-US" sz="2400" dirty="0">
                <a:latin typeface="+mj-lt"/>
                <a:ea typeface="Aptos"/>
                <a:cs typeface="Aptos"/>
                <a:sym typeface="Aptos"/>
              </a:rPr>
              <a:t>would need to place expertise on site </a:t>
            </a:r>
          </a:p>
          <a:p>
            <a:pPr marL="1044130" lvl="2" indent="-348044">
              <a:buFont typeface="Wingdings" panose="05000000000000000000" pitchFamily="2" charset="2"/>
              <a:buChar char="§"/>
            </a:pPr>
            <a:r>
              <a:rPr lang="en-US" sz="2400" dirty="0">
                <a:latin typeface="+mj-lt"/>
                <a:ea typeface="Aptos"/>
                <a:cs typeface="Aptos"/>
                <a:sym typeface="Aptos"/>
              </a:rPr>
              <a:t>High personnel costs</a:t>
            </a:r>
          </a:p>
          <a:p>
            <a:pPr marL="586930" lvl="1" indent="-348044">
              <a:buFont typeface="Arial"/>
              <a:buChar char="⚬"/>
            </a:pPr>
            <a:r>
              <a:rPr lang="en-US" sz="2400" dirty="0">
                <a:latin typeface="+mj-lt"/>
              </a:rPr>
              <a:t>Long term capacity is in the hands of partners, </a:t>
            </a:r>
            <a:r>
              <a:rPr lang="en-US" sz="2400">
                <a:latin typeface="+mj-lt"/>
              </a:rPr>
              <a:t>not AAG</a:t>
            </a:r>
            <a:endParaRPr lang="en-US" sz="2400" dirty="0">
              <a:latin typeface="+mj-lt"/>
            </a:endParaRPr>
          </a:p>
          <a:p>
            <a:pPr marL="586930" lvl="1" indent="-348044">
              <a:buFont typeface="Arial"/>
              <a:buChar char="⚬"/>
            </a:pPr>
            <a:r>
              <a:rPr lang="en-US" sz="2400">
                <a:latin typeface="+mj-lt"/>
              </a:rPr>
              <a:t>AAG </a:t>
            </a:r>
            <a:r>
              <a:rPr lang="en-US" sz="2400" dirty="0">
                <a:latin typeface="+mj-lt"/>
              </a:rPr>
              <a:t>will pay the cost of </a:t>
            </a:r>
            <a:r>
              <a:rPr lang="en-US" sz="2400" b="1" dirty="0">
                <a:latin typeface="+mj-lt"/>
              </a:rPr>
              <a:t>lower efficiency</a:t>
            </a:r>
            <a:r>
              <a:rPr lang="en-US" sz="2400" dirty="0">
                <a:latin typeface="+mj-lt"/>
              </a:rPr>
              <a:t>, we’ll need to invest</a:t>
            </a:r>
            <a:endParaRPr lang="en-US" sz="2400" dirty="0">
              <a:latin typeface="+mj-lt"/>
              <a:ea typeface="Aptos"/>
              <a:cs typeface="Aptos"/>
              <a:sym typeface="Aptos"/>
            </a:endParaRPr>
          </a:p>
          <a:p>
            <a:endParaRPr lang="en-US" dirty="0">
              <a:latin typeface="+mj-lt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2636170-3392-F69F-A407-1027F6947BD0}"/>
              </a:ext>
            </a:extLst>
          </p:cNvPr>
          <p:cNvSpPr/>
          <p:nvPr/>
        </p:nvSpPr>
        <p:spPr>
          <a:xfrm>
            <a:off x="409067" y="9230943"/>
            <a:ext cx="17469865" cy="94808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chemeClr val="bg1"/>
                </a:solidFill>
                <a:latin typeface="+mj-lt"/>
                <a:ea typeface="Aptos"/>
                <a:cs typeface="Aptos"/>
                <a:sym typeface="Aptos"/>
              </a:rPr>
              <a:t>Risks and cons can be mitigated effectively. No detrimental concerns that constitute a knockout.</a:t>
            </a:r>
          </a:p>
        </p:txBody>
      </p:sp>
    </p:spTree>
    <p:extLst>
      <p:ext uri="{BB962C8B-B14F-4D97-AF65-F5344CB8AC3E}">
        <p14:creationId xmlns:p14="http://schemas.microsoft.com/office/powerpoint/2010/main" val="3751204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66E28-A619-9502-3139-93B225322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E325297-D947-43B9-9F90-150EC72B67D6}"/>
              </a:ext>
            </a:extLst>
          </p:cNvPr>
          <p:cNvSpPr/>
          <p:nvPr/>
        </p:nvSpPr>
        <p:spPr>
          <a:xfrm rot="2806">
            <a:off x="-7474" y="1126911"/>
            <a:ext cx="18302947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D9BB5199-F336-580E-E61B-98DD5D5ED185}"/>
              </a:ext>
            </a:extLst>
          </p:cNvPr>
          <p:cNvGrpSpPr/>
          <p:nvPr/>
        </p:nvGrpSpPr>
        <p:grpSpPr>
          <a:xfrm>
            <a:off x="17332167" y="9818056"/>
            <a:ext cx="309626" cy="307729"/>
            <a:chOff x="0" y="0"/>
            <a:chExt cx="412835" cy="41030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0FA27495-79B7-426E-99E1-CE5EE5B2F951}"/>
                </a:ext>
              </a:extLst>
            </p:cNvPr>
            <p:cNvSpPr/>
            <p:nvPr/>
          </p:nvSpPr>
          <p:spPr>
            <a:xfrm>
              <a:off x="0" y="0"/>
              <a:ext cx="412834" cy="410306"/>
            </a:xfrm>
            <a:custGeom>
              <a:avLst/>
              <a:gdLst/>
              <a:ahLst/>
              <a:cxnLst/>
              <a:rect l="l" t="t" r="r" b="b"/>
              <a:pathLst>
                <a:path w="412834" h="410306">
                  <a:moveTo>
                    <a:pt x="0" y="0"/>
                  </a:moveTo>
                  <a:lnTo>
                    <a:pt x="412834" y="0"/>
                  </a:lnTo>
                  <a:lnTo>
                    <a:pt x="412834" y="410306"/>
                  </a:lnTo>
                  <a:lnTo>
                    <a:pt x="0" y="4103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075CFE3B-5973-F479-F5AD-4AC6CCBCE4FD}"/>
                </a:ext>
              </a:extLst>
            </p:cNvPr>
            <p:cNvSpPr txBox="1"/>
            <p:nvPr/>
          </p:nvSpPr>
          <p:spPr>
            <a:xfrm>
              <a:off x="0" y="0"/>
              <a:ext cx="412835" cy="4103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52"/>
                </a:lnSpc>
              </a:pPr>
              <a:endParaRPr lang="en-US" sz="1294">
                <a:solidFill>
                  <a:srgbClr val="767676"/>
                </a:solidFill>
                <a:latin typeface="Aptos"/>
                <a:ea typeface="Aptos"/>
                <a:cs typeface="Aptos"/>
                <a:sym typeface="Aptos"/>
              </a:endParaRPr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44BE5D2C-D884-C6C8-7D2C-43581F3638FC}"/>
              </a:ext>
            </a:extLst>
          </p:cNvPr>
          <p:cNvSpPr txBox="1"/>
          <p:nvPr/>
        </p:nvSpPr>
        <p:spPr>
          <a:xfrm>
            <a:off x="718954" y="336840"/>
            <a:ext cx="14112406" cy="379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9"/>
              </a:lnSpc>
            </a:pPr>
            <a:r>
              <a:rPr lang="en-US" sz="2823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Agenda</a:t>
            </a:r>
          </a:p>
        </p:txBody>
      </p:sp>
      <p:sp>
        <p:nvSpPr>
          <p:cNvPr id="8" name="Freeform 8" descr="A person in a sports garment  AI-generated content may be incorrect.">
            <a:extLst>
              <a:ext uri="{FF2B5EF4-FFF2-40B4-BE49-F238E27FC236}">
                <a16:creationId xmlns:a16="http://schemas.microsoft.com/office/drawing/2014/main" id="{7B8FD21C-6223-2C89-86A8-402B7F2CE840}"/>
              </a:ext>
            </a:extLst>
          </p:cNvPr>
          <p:cNvSpPr/>
          <p:nvPr/>
        </p:nvSpPr>
        <p:spPr>
          <a:xfrm>
            <a:off x="579991" y="1374260"/>
            <a:ext cx="5451072" cy="8046009"/>
          </a:xfrm>
          <a:custGeom>
            <a:avLst/>
            <a:gdLst/>
            <a:ahLst/>
            <a:cxnLst/>
            <a:rect l="l" t="t" r="r" b="b"/>
            <a:pathLst>
              <a:path w="5451072" h="8046009">
                <a:moveTo>
                  <a:pt x="0" y="0"/>
                </a:moveTo>
                <a:lnTo>
                  <a:pt x="5451071" y="0"/>
                </a:lnTo>
                <a:lnTo>
                  <a:pt x="5451071" y="8046009"/>
                </a:lnTo>
                <a:lnTo>
                  <a:pt x="0" y="80460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87" t="-1322" r="-1395" b="-5022"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646D75E8-DFC9-3DC8-8DD8-D9B7283F82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3061043"/>
              </p:ext>
            </p:extLst>
          </p:nvPr>
        </p:nvGraphicFramePr>
        <p:xfrm>
          <a:off x="6096000" y="1374260"/>
          <a:ext cx="11534588" cy="8046009"/>
        </p:xfrm>
        <a:graphic>
          <a:graphicData uri="http://schemas.openxmlformats.org/drawingml/2006/table">
            <a:tbl>
              <a:tblPr/>
              <a:tblGrid>
                <a:gridCol w="2025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9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6285">
                <a:tc>
                  <a:txBody>
                    <a:bodyPr/>
                    <a:lstStyle/>
                    <a:p>
                      <a:pPr algn="ctr">
                        <a:lnSpc>
                          <a:spcPts val="3388"/>
                        </a:lnSpc>
                        <a:defRPr/>
                      </a:pPr>
                      <a:r>
                        <a:rPr lang="en-US" sz="2823" b="1">
                          <a:solidFill>
                            <a:srgbClr val="8C7458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Part 1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88"/>
                        </a:lnSpc>
                        <a:defRPr/>
                      </a:pPr>
                      <a:r>
                        <a:rPr lang="en-US" sz="2823" b="1">
                          <a:solidFill>
                            <a:srgbClr val="000000"/>
                          </a:solidFill>
                          <a:latin typeface="Aptos Bold"/>
                          <a:sym typeface="Aptos Bold"/>
                        </a:rPr>
                        <a:t>Problem Statement and Solution Options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285">
                <a:tc>
                  <a:txBody>
                    <a:bodyPr/>
                    <a:lstStyle/>
                    <a:p>
                      <a:pPr algn="ctr">
                        <a:lnSpc>
                          <a:spcPts val="3388"/>
                        </a:lnSpc>
                        <a:defRPr/>
                      </a:pPr>
                      <a:r>
                        <a:rPr lang="en-US" sz="2823" b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Part 2</a:t>
                      </a:r>
                      <a:endParaRPr lang="en-US" sz="11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88"/>
                        </a:lnSpc>
                        <a:defRPr/>
                      </a:pPr>
                      <a:r>
                        <a:rPr lang="en-US" sz="2823" b="1">
                          <a:solidFill>
                            <a:srgbClr val="000000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Leased Lines (Pros + Cons)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6285">
                <a:tc>
                  <a:txBody>
                    <a:bodyPr/>
                    <a:lstStyle/>
                    <a:p>
                      <a:pPr algn="ctr">
                        <a:lnSpc>
                          <a:spcPts val="3388"/>
                        </a:lnSpc>
                        <a:defRPr/>
                      </a:pPr>
                      <a:r>
                        <a:rPr lang="en-US" sz="2823" b="1">
                          <a:solidFill>
                            <a:schemeClr val="tx1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Part 3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88"/>
                        </a:lnSpc>
                        <a:defRPr/>
                      </a:pPr>
                      <a:r>
                        <a:rPr lang="en-US" sz="2823" b="1">
                          <a:solidFill>
                            <a:srgbClr val="000000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Commercial analysis of Leased Lines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87154">
                <a:tc>
                  <a:txBody>
                    <a:bodyPr/>
                    <a:lstStyle/>
                    <a:p>
                      <a:pPr algn="ctr">
                        <a:lnSpc>
                          <a:spcPts val="3388"/>
                        </a:lnSpc>
                        <a:defRPr/>
                      </a:pPr>
                      <a:r>
                        <a:rPr lang="en-US" sz="2823" b="1">
                          <a:solidFill>
                            <a:srgbClr val="8C7458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Part 4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88"/>
                        </a:lnSpc>
                        <a:defRPr/>
                      </a:pPr>
                      <a:r>
                        <a:rPr lang="en-US" sz="2823" b="1">
                          <a:solidFill>
                            <a:srgbClr val="000000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Further Considerations and Next Steps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89395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0D1817-F2F9-2CB1-4321-1DA0796487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FC33DD2D-06CB-8C8A-2053-8F43D7F9D772}"/>
              </a:ext>
            </a:extLst>
          </p:cNvPr>
          <p:cNvSpPr/>
          <p:nvPr/>
        </p:nvSpPr>
        <p:spPr>
          <a:xfrm>
            <a:off x="5" y="1223430"/>
            <a:ext cx="18307050" cy="1905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F488118-0DAA-D6A5-8CA1-465A16DFA450}"/>
              </a:ext>
            </a:extLst>
          </p:cNvPr>
          <p:cNvSpPr txBox="1"/>
          <p:nvPr/>
        </p:nvSpPr>
        <p:spPr>
          <a:xfrm>
            <a:off x="247598" y="320192"/>
            <a:ext cx="15068602" cy="7797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30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We’ve received estimates from Cherry in Cambodia for costs of running 2 lines, but we think they’re high. We’re confident that the cost for 2 lines will be ~$60K.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76AED82-8B8F-FD2B-437C-9DC8ED894B1D}"/>
              </a:ext>
            </a:extLst>
          </p:cNvPr>
          <p:cNvSpPr/>
          <p:nvPr/>
        </p:nvSpPr>
        <p:spPr>
          <a:xfrm>
            <a:off x="685800" y="6727315"/>
            <a:ext cx="17158258" cy="29146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sz="2400" b="1" dirty="0">
                <a:solidFill>
                  <a:schemeClr val="tx1"/>
                </a:solidFill>
                <a:latin typeface="+mj-lt"/>
              </a:rPr>
              <a:t>Important Notes about Production Costs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j-lt"/>
              </a:rPr>
              <a:t>Incremental lines are assumed to have lower costs as fixed costs are further absorbed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j-lt"/>
              </a:rPr>
              <a:t>Cherry difference in very high DL to IDL ratio of 1:1 – this excludes Merch, Sales and other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j-lt"/>
              </a:rPr>
              <a:t>There will be a ramp up period for lines to be trained where costs are higher and efficiency lower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tx1"/>
                </a:solidFill>
                <a:latin typeface="+mj-lt"/>
              </a:rPr>
              <a:t>AAG </a:t>
            </a:r>
            <a:r>
              <a:rPr lang="en-US" sz="2400" dirty="0">
                <a:solidFill>
                  <a:schemeClr val="tx1"/>
                </a:solidFill>
                <a:latin typeface="+mj-lt"/>
              </a:rPr>
              <a:t>will need to provide expert advice on site to develop the line’s capability quickly</a:t>
            </a:r>
          </a:p>
          <a:p>
            <a:endParaRPr lang="en-US" sz="2400" dirty="0"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20" name="Object 19">
            <a:extLst>
              <a:ext uri="{FF2B5EF4-FFF2-40B4-BE49-F238E27FC236}">
                <a16:creationId xmlns:a16="http://schemas.microsoft.com/office/drawing/2014/main" id="{68385807-B0FD-44F0-CC0D-ACED90D5877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1023994"/>
              </p:ext>
            </p:extLst>
          </p:nvPr>
        </p:nvGraphicFramePr>
        <p:xfrm>
          <a:off x="9256790" y="2437235"/>
          <a:ext cx="8587267" cy="41510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6775323" imgH="3064002" progId="Excel.Sheet.12">
                  <p:embed/>
                </p:oleObj>
              </mc:Choice>
              <mc:Fallback>
                <p:oleObj name="Worksheet" r:id="rId2" imgW="6775323" imgH="3064002" progId="Excel.Sheet.12">
                  <p:embed/>
                  <p:pic>
                    <p:nvPicPr>
                      <p:cNvPr id="20" name="Object 19">
                        <a:extLst>
                          <a:ext uri="{FF2B5EF4-FFF2-40B4-BE49-F238E27FC236}">
                            <a16:creationId xmlns:a16="http://schemas.microsoft.com/office/drawing/2014/main" id="{68385807-B0FD-44F0-CC0D-ACED90D5877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9256790" y="2437235"/>
                        <a:ext cx="8587267" cy="41510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Freeform 7">
            <a:extLst>
              <a:ext uri="{FF2B5EF4-FFF2-40B4-BE49-F238E27FC236}">
                <a16:creationId xmlns:a16="http://schemas.microsoft.com/office/drawing/2014/main" id="{149CF1E8-F985-497B-AA90-5A61871E4A41}"/>
              </a:ext>
            </a:extLst>
          </p:cNvPr>
          <p:cNvSpPr/>
          <p:nvPr/>
        </p:nvSpPr>
        <p:spPr>
          <a:xfrm>
            <a:off x="9256789" y="1423103"/>
            <a:ext cx="8587268" cy="1037998"/>
          </a:xfrm>
          <a:custGeom>
            <a:avLst/>
            <a:gdLst/>
            <a:ahLst/>
            <a:cxnLst/>
            <a:rect l="l" t="t" r="r" b="b"/>
            <a:pathLst>
              <a:path w="2261667" h="255741">
                <a:moveTo>
                  <a:pt x="0" y="0"/>
                </a:moveTo>
                <a:lnTo>
                  <a:pt x="2261667" y="0"/>
                </a:lnTo>
                <a:lnTo>
                  <a:pt x="2261667" y="255741"/>
                </a:lnTo>
                <a:lnTo>
                  <a:pt x="0" y="255741"/>
                </a:lnTo>
                <a:close/>
              </a:path>
            </a:pathLst>
          </a:custGeom>
          <a:solidFill>
            <a:srgbClr val="000000"/>
          </a:solidFill>
        </p:spPr>
        <p:txBody>
          <a:bodyPr anchor="ctr"/>
          <a:lstStyle/>
          <a:p>
            <a:pPr algn="ctr"/>
            <a:r>
              <a:rPr lang="en-US" sz="2400">
                <a:solidFill>
                  <a:schemeClr val="bg1"/>
                </a:solidFill>
              </a:rPr>
              <a:t>Cherry Cambodia for 2 lines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8E45D9B9-A6A2-C42D-1743-171C69F9934A}"/>
              </a:ext>
            </a:extLst>
          </p:cNvPr>
          <p:cNvSpPr/>
          <p:nvPr/>
        </p:nvSpPr>
        <p:spPr>
          <a:xfrm>
            <a:off x="685800" y="1480383"/>
            <a:ext cx="8345410" cy="1038308"/>
          </a:xfrm>
          <a:custGeom>
            <a:avLst/>
            <a:gdLst/>
            <a:ahLst/>
            <a:cxnLst/>
            <a:rect l="l" t="t" r="r" b="b"/>
            <a:pathLst>
              <a:path w="2261667" h="255741">
                <a:moveTo>
                  <a:pt x="0" y="0"/>
                </a:moveTo>
                <a:lnTo>
                  <a:pt x="2261667" y="0"/>
                </a:lnTo>
                <a:lnTo>
                  <a:pt x="2261667" y="255741"/>
                </a:lnTo>
                <a:lnTo>
                  <a:pt x="0" y="255741"/>
                </a:lnTo>
                <a:close/>
              </a:path>
            </a:pathLst>
          </a:custGeom>
          <a:solidFill>
            <a:srgbClr val="000000"/>
          </a:solidFill>
        </p:spPr>
        <p:txBody>
          <a:bodyPr anchor="ctr"/>
          <a:lstStyle/>
          <a:p>
            <a:pPr algn="ctr"/>
            <a:r>
              <a:rPr lang="en-US" sz="2400">
                <a:solidFill>
                  <a:srgbClr val="FFFFFF"/>
                </a:solidFill>
                <a:latin typeface="+mj-lt"/>
                <a:ea typeface="Canva Sans"/>
                <a:cs typeface="Canva Sans"/>
                <a:sym typeface="Canva Sans"/>
              </a:rPr>
              <a:t>Internal Estimates 2 Lines Cambodia costs</a:t>
            </a:r>
            <a:endParaRPr lang="en-US" sz="2400">
              <a:latin typeface="+mj-lt"/>
            </a:endParaRP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92AA1108-E590-626C-C062-2F8232CC84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29548822"/>
              </p:ext>
            </p:extLst>
          </p:nvPr>
        </p:nvGraphicFramePr>
        <p:xfrm>
          <a:off x="685801" y="2518692"/>
          <a:ext cx="8345410" cy="26066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4" imgW="6670548" imgH="1905000" progId="Excel.Sheet.12">
                  <p:embed/>
                </p:oleObj>
              </mc:Choice>
              <mc:Fallback>
                <p:oleObj name="Worksheet" r:id="rId4" imgW="6670548" imgH="1905000" progId="Excel.Sheet.12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92AA1108-E590-626C-C062-2F8232CC84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685801" y="2518692"/>
                        <a:ext cx="8345410" cy="260660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3C6497E8-8110-FE34-3F92-F29F2413F70E}"/>
              </a:ext>
            </a:extLst>
          </p:cNvPr>
          <p:cNvSpPr/>
          <p:nvPr/>
        </p:nvSpPr>
        <p:spPr>
          <a:xfrm>
            <a:off x="685800" y="5393251"/>
            <a:ext cx="8345410" cy="1195033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/>
              <a:t>Therefore, we’re confident that </a:t>
            </a:r>
            <a:r>
              <a:rPr lang="en-US" sz="2800" b="1"/>
              <a:t>$60K</a:t>
            </a:r>
            <a:r>
              <a:rPr lang="en-US" sz="2800"/>
              <a:t> is a reasonable cost estimate for 2 lines with a partner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7C6490E-652B-6824-B5B1-E278897604C4}"/>
              </a:ext>
            </a:extLst>
          </p:cNvPr>
          <p:cNvSpPr/>
          <p:nvPr/>
        </p:nvSpPr>
        <p:spPr>
          <a:xfrm>
            <a:off x="685801" y="4675333"/>
            <a:ext cx="8318195" cy="569296"/>
          </a:xfrm>
          <a:prstGeom prst="rect">
            <a:avLst/>
          </a:prstGeom>
          <a:solidFill>
            <a:srgbClr val="DDEBF7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chemeClr val="tx1"/>
                </a:solidFill>
              </a:rPr>
              <a:t>Total Costs for 2 lines at capacity per Month                       $58,000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C105377-FBEF-FFF8-557E-2C30AF0C8362}"/>
              </a:ext>
            </a:extLst>
          </p:cNvPr>
          <p:cNvSpPr/>
          <p:nvPr/>
        </p:nvSpPr>
        <p:spPr>
          <a:xfrm>
            <a:off x="7592786" y="2518692"/>
            <a:ext cx="1411210" cy="1815470"/>
          </a:xfrm>
          <a:prstGeom prst="rect">
            <a:avLst/>
          </a:prstGeom>
          <a:solidFill>
            <a:schemeClr val="bg1"/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sz="2000">
                <a:solidFill>
                  <a:schemeClr val="tx1"/>
                </a:solidFill>
              </a:rPr>
              <a:t>$36,000</a:t>
            </a:r>
          </a:p>
          <a:p>
            <a:pPr algn="ctr"/>
            <a:r>
              <a:rPr lang="en-US" sz="2000">
                <a:solidFill>
                  <a:schemeClr val="tx1"/>
                </a:solidFill>
              </a:rPr>
              <a:t>$2,600</a:t>
            </a:r>
          </a:p>
          <a:p>
            <a:pPr algn="ctr"/>
            <a:r>
              <a:rPr lang="en-US" sz="2000">
                <a:solidFill>
                  <a:schemeClr val="tx1"/>
                </a:solidFill>
              </a:rPr>
              <a:t>$8,000</a:t>
            </a:r>
          </a:p>
          <a:p>
            <a:pPr algn="ctr"/>
            <a:r>
              <a:rPr lang="en-US" sz="2000">
                <a:solidFill>
                  <a:schemeClr val="tx1"/>
                </a:solidFill>
              </a:rPr>
              <a:t>$6,500</a:t>
            </a:r>
          </a:p>
          <a:p>
            <a:pPr algn="ctr"/>
            <a:r>
              <a:rPr lang="en-US" sz="2000">
                <a:solidFill>
                  <a:schemeClr val="tx1"/>
                </a:solidFill>
              </a:rPr>
              <a:t>$5,000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3BF3C64-D24F-0198-68A9-625B0B9AF747}"/>
              </a:ext>
            </a:extLst>
          </p:cNvPr>
          <p:cNvSpPr/>
          <p:nvPr/>
        </p:nvSpPr>
        <p:spPr>
          <a:xfrm>
            <a:off x="9256789" y="5886451"/>
            <a:ext cx="8587268" cy="660241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400" b="1">
                <a:solidFill>
                  <a:schemeClr val="tx1"/>
                </a:solidFill>
              </a:rPr>
              <a:t>Total 								 $71,000</a:t>
            </a:r>
          </a:p>
        </p:txBody>
      </p:sp>
    </p:spTree>
    <p:extLst>
      <p:ext uri="{BB962C8B-B14F-4D97-AF65-F5344CB8AC3E}">
        <p14:creationId xmlns:p14="http://schemas.microsoft.com/office/powerpoint/2010/main" val="16452760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AE816-47E6-2D28-775A-1890AB417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F3C67A0-8089-8072-9658-D5BE0BCCD7D1}"/>
              </a:ext>
            </a:extLst>
          </p:cNvPr>
          <p:cNvSpPr/>
          <p:nvPr/>
        </p:nvSpPr>
        <p:spPr>
          <a:xfrm>
            <a:off x="5" y="1223430"/>
            <a:ext cx="18307050" cy="1905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EEEAEE38-FAAE-CB21-9F44-AA644F9B2647}"/>
              </a:ext>
            </a:extLst>
          </p:cNvPr>
          <p:cNvSpPr txBox="1"/>
          <p:nvPr/>
        </p:nvSpPr>
        <p:spPr>
          <a:xfrm>
            <a:off x="609600" y="304170"/>
            <a:ext cx="14151844" cy="773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823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Leased lines appear to be a viable option based on our estimates on a monthly basis and their positive contributions will help pay for fixed costs at Longson.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0C27FABF-C917-BFA6-E4E2-0922FE434C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7580192"/>
              </p:ext>
            </p:extLst>
          </p:nvPr>
        </p:nvGraphicFramePr>
        <p:xfrm>
          <a:off x="609601" y="1527548"/>
          <a:ext cx="17145001" cy="791462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>
                  <a:extLst>
                    <a:ext uri="{9D8B030D-6E8A-4147-A177-3AD203B41FA5}">
                      <a16:colId xmlns:a16="http://schemas.microsoft.com/office/drawing/2014/main" val="3124162385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540625909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1854900492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415901457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2039776441"/>
                    </a:ext>
                  </a:extLst>
                </a:gridCol>
                <a:gridCol w="1905000">
                  <a:extLst>
                    <a:ext uri="{9D8B030D-6E8A-4147-A177-3AD203B41FA5}">
                      <a16:colId xmlns:a16="http://schemas.microsoft.com/office/drawing/2014/main" val="823201374"/>
                    </a:ext>
                  </a:extLst>
                </a:gridCol>
                <a:gridCol w="1752599">
                  <a:extLst>
                    <a:ext uri="{9D8B030D-6E8A-4147-A177-3AD203B41FA5}">
                      <a16:colId xmlns:a16="http://schemas.microsoft.com/office/drawing/2014/main" val="4160291743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3457135835"/>
                    </a:ext>
                  </a:extLst>
                </a:gridCol>
                <a:gridCol w="2286002">
                  <a:extLst>
                    <a:ext uri="{9D8B030D-6E8A-4147-A177-3AD203B41FA5}">
                      <a16:colId xmlns:a16="http://schemas.microsoft.com/office/drawing/2014/main" val="749569501"/>
                    </a:ext>
                  </a:extLst>
                </a:gridCol>
              </a:tblGrid>
              <a:tr h="172043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Product Category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it-IT" sz="2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Avg. CM Income per SAH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Avg. GSD SEWING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CM / pc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Estimated Efficiency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Pcs / Mo.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Income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LLs Cost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CM to LS Fixed Costs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440149829"/>
                  </a:ext>
                </a:extLst>
              </a:tr>
              <a:tr h="162589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JACKET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$22.76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48 mins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$18.06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30%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4.9K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$89K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0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($60K)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1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$29K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3150892482"/>
                  </a:ext>
                </a:extLst>
              </a:tr>
              <a:tr h="14736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LEGGINGS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$28.00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14 mins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$6.38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33%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19K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$121K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0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($60K)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1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$61K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94723254"/>
                  </a:ext>
                </a:extLst>
              </a:tr>
              <a:tr h="1473644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SHORTS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$18.49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29 mins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$9.05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24%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6.2K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$57K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0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($60K)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($3.3K)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86937184"/>
                  </a:ext>
                </a:extLst>
              </a:tr>
              <a:tr h="162100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SWEATTOP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$29.81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 28 mins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$14.04 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37%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10K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0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$142K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0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($60K)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800" b="1" i="0" u="none" strike="noStrike">
                          <a:solidFill>
                            <a:srgbClr val="00B050"/>
                          </a:solidFill>
                          <a:effectLst/>
                          <a:latin typeface="+mj-lt"/>
                        </a:rPr>
                        <a:t>$82K</a:t>
                      </a: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249926886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1EE15F2F-5C9F-E1F7-AA88-913184F39CA1}"/>
              </a:ext>
            </a:extLst>
          </p:cNvPr>
          <p:cNvSpPr txBox="1"/>
          <p:nvPr/>
        </p:nvSpPr>
        <p:spPr>
          <a:xfrm>
            <a:off x="6941957" y="9623271"/>
            <a:ext cx="440409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Analysis is based on 2 leased lines</a:t>
            </a:r>
          </a:p>
        </p:txBody>
      </p:sp>
    </p:spTree>
    <p:extLst>
      <p:ext uri="{BB962C8B-B14F-4D97-AF65-F5344CB8AC3E}">
        <p14:creationId xmlns:p14="http://schemas.microsoft.com/office/powerpoint/2010/main" val="28734881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10664730-9B1C-037C-EA78-8C23920B5CFD}"/>
              </a:ext>
            </a:extLst>
          </p:cNvPr>
          <p:cNvSpPr/>
          <p:nvPr/>
        </p:nvSpPr>
        <p:spPr>
          <a:xfrm>
            <a:off x="5" y="1223430"/>
            <a:ext cx="18307050" cy="1905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Box 12">
            <a:extLst>
              <a:ext uri="{FF2B5EF4-FFF2-40B4-BE49-F238E27FC236}">
                <a16:creationId xmlns:a16="http://schemas.microsoft.com/office/drawing/2014/main" id="{0191EECB-3D83-EDF4-42DA-1EC2839ECF47}"/>
              </a:ext>
            </a:extLst>
          </p:cNvPr>
          <p:cNvSpPr txBox="1"/>
          <p:nvPr/>
        </p:nvSpPr>
        <p:spPr>
          <a:xfrm>
            <a:off x="305277" y="370410"/>
            <a:ext cx="14151844" cy="773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30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Since we don’t have access to lease line partner’s production data, we’ve had to make confident assumptions to evaluate the viability of operating leased lines.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A098E3-CC46-01B1-0254-974BA6E859D9}"/>
              </a:ext>
            </a:extLst>
          </p:cNvPr>
          <p:cNvSpPr txBox="1"/>
          <p:nvPr/>
        </p:nvSpPr>
        <p:spPr>
          <a:xfrm>
            <a:off x="366236" y="2054113"/>
            <a:ext cx="16543736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latin typeface="+mj-lt"/>
              </a:rPr>
              <a:t>Data is based on orders of </a:t>
            </a:r>
            <a:r>
              <a:rPr lang="en-US" sz="2400" b="1">
                <a:latin typeface="+mj-lt"/>
              </a:rPr>
              <a:t>&lt;800 pcs </a:t>
            </a:r>
            <a:r>
              <a:rPr lang="en-US" sz="2400">
                <a:latin typeface="+mj-lt"/>
              </a:rPr>
              <a:t>for </a:t>
            </a:r>
            <a:r>
              <a:rPr lang="en-US" sz="2400" b="1">
                <a:latin typeface="+mj-lt"/>
              </a:rPr>
              <a:t>American customers ONLY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latin typeface="+mj-lt"/>
              </a:rPr>
              <a:t>Calculated based on a </a:t>
            </a:r>
            <a:r>
              <a:rPr lang="en-US" sz="2400" b="1">
                <a:latin typeface="+mj-lt"/>
              </a:rPr>
              <a:t>representative data set </a:t>
            </a:r>
            <a:r>
              <a:rPr lang="en-US" sz="2400">
                <a:latin typeface="+mj-lt"/>
              </a:rPr>
              <a:t>of the population.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+mj-lt"/>
              </a:rPr>
              <a:t>Estimated Efficiency for Category on LL </a:t>
            </a:r>
            <a:r>
              <a:rPr lang="en-US" sz="2400">
                <a:latin typeface="+mj-lt"/>
              </a:rPr>
              <a:t>= Longson Efficiency – (0.3 x Actual Longson Efficiency for Category at &lt;800 pcs)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>
                <a:latin typeface="+mj-lt"/>
              </a:rPr>
              <a:t>Estimated Cost per line ($30,000) </a:t>
            </a:r>
            <a:r>
              <a:rPr lang="en-US" sz="2400">
                <a:latin typeface="+mj-lt"/>
              </a:rPr>
              <a:t>calculated based on estimates from Cherry and other COOs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latin typeface="+mj-lt"/>
              </a:rPr>
              <a:t>The Contribution calculated on the previous page is NOT profit from lease lines. This is contribution toward Longson’s fixed costs. It’s how the costs were calculated in this example.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>
                <a:latin typeface="+mj-lt"/>
              </a:rPr>
              <a:t>Assumes we’re able to fill a line, for a whole month, on a single product category, at full capacity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>
              <a:latin typeface="+mj-lt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5F614469-9D37-2ACC-A07D-32FDB25A1A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5056161"/>
              </p:ext>
            </p:extLst>
          </p:nvPr>
        </p:nvGraphicFramePr>
        <p:xfrm>
          <a:off x="762000" y="6382877"/>
          <a:ext cx="6950530" cy="2920798"/>
        </p:xfrm>
        <a:graphic>
          <a:graphicData uri="http://schemas.openxmlformats.org/drawingml/2006/table">
            <a:tbl>
              <a:tblPr bandRow="1"/>
              <a:tblGrid>
                <a:gridCol w="4125209">
                  <a:extLst>
                    <a:ext uri="{9D8B030D-6E8A-4147-A177-3AD203B41FA5}">
                      <a16:colId xmlns:a16="http://schemas.microsoft.com/office/drawing/2014/main" val="1114517384"/>
                    </a:ext>
                  </a:extLst>
                </a:gridCol>
                <a:gridCol w="2825321">
                  <a:extLst>
                    <a:ext uri="{9D8B030D-6E8A-4147-A177-3AD203B41FA5}">
                      <a16:colId xmlns:a16="http://schemas.microsoft.com/office/drawing/2014/main" val="1616808801"/>
                    </a:ext>
                  </a:extLst>
                </a:gridCol>
              </a:tblGrid>
              <a:tr h="913279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Capacity Assumptions</a:t>
                      </a:r>
                    </a:p>
                  </a:txBody>
                  <a:tcPr marL="47469" marR="47469" marT="1256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sz="2400" b="1" i="0" u="none" strike="noStrike">
                        <a:solidFill>
                          <a:srgbClr val="FFFFFF"/>
                        </a:solidFill>
                        <a:effectLst/>
                        <a:latin typeface="+mj-lt"/>
                      </a:endParaRPr>
                    </a:p>
                  </a:txBody>
                  <a:tcPr marL="47469" marR="47469" marT="1256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1073569"/>
                  </a:ext>
                </a:extLst>
              </a:tr>
              <a:tr h="528336">
                <a:tc>
                  <a:txBody>
                    <a:bodyPr/>
                    <a:lstStyle/>
                    <a:p>
                      <a:pPr algn="l" fontAlgn="ctr"/>
                      <a:r>
                        <a:rPr lang="en-US" sz="2400" b="1" i="0" u="none" strike="noStrike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Operators per Line</a:t>
                      </a:r>
                    </a:p>
                  </a:txBody>
                  <a:tcPr marL="47469" marR="47469" marT="1256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24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25 ppl</a:t>
                      </a:r>
                    </a:p>
                  </a:txBody>
                  <a:tcPr marL="47469" marR="47469" marT="1256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149079"/>
                  </a:ext>
                </a:extLst>
              </a:tr>
              <a:tr h="493061">
                <a:tc>
                  <a:txBody>
                    <a:bodyPr/>
                    <a:lstStyle/>
                    <a:p>
                      <a:pPr marL="0" algn="l" defTabSz="1165677" rtl="0" eaLnBrk="1" fontAlgn="ctr" latinLnBrk="0" hangingPunct="1"/>
                      <a:r>
                        <a:rPr lang="en-AU" sz="24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Working Hours / Day</a:t>
                      </a:r>
                    </a:p>
                  </a:txBody>
                  <a:tcPr marL="47469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24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10 hrs</a:t>
                      </a:r>
                    </a:p>
                  </a:txBody>
                  <a:tcPr marL="47469" marR="47469" marT="1256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1773694"/>
                  </a:ext>
                </a:extLst>
              </a:tr>
              <a:tr h="493061">
                <a:tc>
                  <a:txBody>
                    <a:bodyPr/>
                    <a:lstStyle/>
                    <a:p>
                      <a:pPr marL="0" algn="l" defTabSz="1165677" rtl="0" eaLnBrk="1" fontAlgn="ctr" latinLnBrk="0" hangingPunct="1"/>
                      <a:r>
                        <a:rPr lang="en-AU" sz="24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Working Days / Month</a:t>
                      </a:r>
                    </a:p>
                  </a:txBody>
                  <a:tcPr marL="47469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24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26 days</a:t>
                      </a:r>
                    </a:p>
                  </a:txBody>
                  <a:tcPr marL="47469" marR="47469" marT="1256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863509"/>
                  </a:ext>
                </a:extLst>
              </a:tr>
              <a:tr h="493061">
                <a:tc>
                  <a:txBody>
                    <a:bodyPr/>
                    <a:lstStyle/>
                    <a:p>
                      <a:pPr marL="0" algn="l" defTabSz="1165677" rtl="0" eaLnBrk="1" fontAlgn="ctr" latinLnBrk="0" hangingPunct="1"/>
                      <a:r>
                        <a:rPr lang="en-AU" sz="2400" b="1" i="0" u="none" strike="noStrike" kern="1200">
                          <a:solidFill>
                            <a:srgbClr val="000000"/>
                          </a:solidFill>
                          <a:effectLst/>
                          <a:latin typeface="+mj-lt"/>
                        </a:rPr>
                        <a:t>Total Working Minutes (2 lines)</a:t>
                      </a:r>
                    </a:p>
                  </a:txBody>
                  <a:tcPr marL="47469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AU" sz="2400" b="1" i="0" u="none" strike="noStrike">
                          <a:solidFill>
                            <a:srgbClr val="FF0000"/>
                          </a:solidFill>
                          <a:effectLst/>
                          <a:latin typeface="+mj-lt"/>
                        </a:rPr>
                        <a:t>780,000 mins / mo.</a:t>
                      </a:r>
                    </a:p>
                  </a:txBody>
                  <a:tcPr marL="47469" marR="47469" marT="1256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126133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3DF15FB-4912-8DE3-678C-E3D110C37297}"/>
              </a:ext>
            </a:extLst>
          </p:cNvPr>
          <p:cNvSpPr txBox="1"/>
          <p:nvPr/>
        </p:nvSpPr>
        <p:spPr>
          <a:xfrm>
            <a:off x="341247" y="1561815"/>
            <a:ext cx="324217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Calculation Assumptions</a:t>
            </a:r>
          </a:p>
        </p:txBody>
      </p:sp>
      <p:sp>
        <p:nvSpPr>
          <p:cNvPr id="10" name="AutoShape 2">
            <a:extLst>
              <a:ext uri="{FF2B5EF4-FFF2-40B4-BE49-F238E27FC236}">
                <a16:creationId xmlns:a16="http://schemas.microsoft.com/office/drawing/2014/main" id="{6A9232E8-6B32-B52D-4DF2-B7D71382C9AE}"/>
              </a:ext>
            </a:extLst>
          </p:cNvPr>
          <p:cNvSpPr/>
          <p:nvPr/>
        </p:nvSpPr>
        <p:spPr>
          <a:xfrm>
            <a:off x="308590" y="2045251"/>
            <a:ext cx="17031691" cy="17723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11634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63E1CA-0144-A6E5-6D4F-136DDB3F8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5E3F01A-0E4B-D69E-9584-05BF932D40D2}"/>
              </a:ext>
            </a:extLst>
          </p:cNvPr>
          <p:cNvSpPr/>
          <p:nvPr/>
        </p:nvSpPr>
        <p:spPr>
          <a:xfrm>
            <a:off x="5" y="1223430"/>
            <a:ext cx="18307050" cy="1905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CC340B2B-49C9-442B-C707-68EB86B44BBC}"/>
              </a:ext>
            </a:extLst>
          </p:cNvPr>
          <p:cNvSpPr txBox="1"/>
          <p:nvPr/>
        </p:nvSpPr>
        <p:spPr>
          <a:xfrm>
            <a:off x="457200" y="304170"/>
            <a:ext cx="14630400" cy="7797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30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As a reality check: like for like production at Longson Vs Partner we can see the lower personnel costs in partners offset lower efficiency giving better CM to fixed margin.</a:t>
            </a: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B0DD02C6-739C-9C67-A363-DE98CCBF5F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2095499"/>
          <a:ext cx="16557955" cy="2743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582150" imgH="1587627" progId="Excel.Sheet.12">
                  <p:embed/>
                </p:oleObj>
              </mc:Choice>
              <mc:Fallback>
                <p:oleObj name="Worksheet" r:id="rId2" imgW="9582150" imgH="1587627" progId="Excel.Sheet.12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B0DD02C6-739C-9C67-A363-DE98CCBF5FD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762000" y="2095499"/>
                        <a:ext cx="16557955" cy="2743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802A03FA-8143-02C5-233C-470CC2C09A18}"/>
              </a:ext>
            </a:extLst>
          </p:cNvPr>
          <p:cNvSpPr/>
          <p:nvPr/>
        </p:nvSpPr>
        <p:spPr>
          <a:xfrm>
            <a:off x="761999" y="5448301"/>
            <a:ext cx="16557955" cy="246561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j-lt"/>
              </a:rPr>
              <a:t>Longson average actual operations costs per month are </a:t>
            </a:r>
            <a:r>
              <a:rPr lang="en-US" sz="2400" b="1" u="sng" dirty="0">
                <a:solidFill>
                  <a:schemeClr val="tx1"/>
                </a:solidFill>
                <a:latin typeface="+mj-lt"/>
              </a:rPr>
              <a:t>$2,543K spread over 42 sewing lines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j-lt"/>
              </a:rPr>
              <a:t>Includes costs for Cut/Sew/ Finish and Warehouse and QC, Production Management 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j-lt"/>
              </a:rPr>
              <a:t>Excludes SGA, COO, Sample Room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+mj-lt"/>
              </a:rPr>
              <a:t>There will be additional LS expert costs to help partners start production</a:t>
            </a:r>
          </a:p>
          <a:p>
            <a:endParaRPr lang="en-US" sz="2400" dirty="0">
              <a:solidFill>
                <a:schemeClr val="tx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3935662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72547-6DAF-4418-66AD-361243107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D96EF7F-3304-FBEC-8213-8EB2463CC145}"/>
              </a:ext>
            </a:extLst>
          </p:cNvPr>
          <p:cNvSpPr/>
          <p:nvPr/>
        </p:nvSpPr>
        <p:spPr>
          <a:xfrm rot="2806">
            <a:off x="-7474" y="1126911"/>
            <a:ext cx="18302947" cy="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 descr="What does the 'B' stand for and five other things you need to know about  the B Corp movement - B Lab Australia &amp; New Zealand">
            <a:extLst>
              <a:ext uri="{FF2B5EF4-FFF2-40B4-BE49-F238E27FC236}">
                <a16:creationId xmlns:a16="http://schemas.microsoft.com/office/drawing/2014/main" id="{51438EB3-3A91-8D9F-7D31-906C29AE8683}"/>
              </a:ext>
            </a:extLst>
          </p:cNvPr>
          <p:cNvSpPr/>
          <p:nvPr/>
        </p:nvSpPr>
        <p:spPr>
          <a:xfrm>
            <a:off x="17532433" y="63471"/>
            <a:ext cx="486732" cy="710485"/>
          </a:xfrm>
          <a:custGeom>
            <a:avLst/>
            <a:gdLst/>
            <a:ahLst/>
            <a:cxnLst/>
            <a:rect l="l" t="t" r="r" b="b"/>
            <a:pathLst>
              <a:path w="486732" h="710485">
                <a:moveTo>
                  <a:pt x="0" y="0"/>
                </a:moveTo>
                <a:lnTo>
                  <a:pt x="486732" y="0"/>
                </a:lnTo>
                <a:lnTo>
                  <a:pt x="486732" y="710484"/>
                </a:lnTo>
                <a:lnTo>
                  <a:pt x="0" y="71048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0"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57840CC-FD86-C93E-E602-360B44C13880}"/>
              </a:ext>
            </a:extLst>
          </p:cNvPr>
          <p:cNvGrpSpPr/>
          <p:nvPr/>
        </p:nvGrpSpPr>
        <p:grpSpPr>
          <a:xfrm>
            <a:off x="17332167" y="9818056"/>
            <a:ext cx="309626" cy="307729"/>
            <a:chOff x="0" y="0"/>
            <a:chExt cx="412835" cy="41030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E38AAD27-2858-8463-C88F-0CF71DD8254F}"/>
                </a:ext>
              </a:extLst>
            </p:cNvPr>
            <p:cNvSpPr/>
            <p:nvPr/>
          </p:nvSpPr>
          <p:spPr>
            <a:xfrm>
              <a:off x="0" y="0"/>
              <a:ext cx="412834" cy="410306"/>
            </a:xfrm>
            <a:custGeom>
              <a:avLst/>
              <a:gdLst/>
              <a:ahLst/>
              <a:cxnLst/>
              <a:rect l="l" t="t" r="r" b="b"/>
              <a:pathLst>
                <a:path w="412834" h="410306">
                  <a:moveTo>
                    <a:pt x="0" y="0"/>
                  </a:moveTo>
                  <a:lnTo>
                    <a:pt x="412834" y="0"/>
                  </a:lnTo>
                  <a:lnTo>
                    <a:pt x="412834" y="410306"/>
                  </a:lnTo>
                  <a:lnTo>
                    <a:pt x="0" y="41030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>
              <a:extLst>
                <a:ext uri="{FF2B5EF4-FFF2-40B4-BE49-F238E27FC236}">
                  <a16:creationId xmlns:a16="http://schemas.microsoft.com/office/drawing/2014/main" id="{35E455B3-2FAB-996B-EE9F-C36FA8359307}"/>
                </a:ext>
              </a:extLst>
            </p:cNvPr>
            <p:cNvSpPr txBox="1"/>
            <p:nvPr/>
          </p:nvSpPr>
          <p:spPr>
            <a:xfrm>
              <a:off x="0" y="0"/>
              <a:ext cx="412835" cy="41030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552"/>
                </a:lnSpc>
              </a:pPr>
              <a:endParaRPr lang="en-US" sz="1294">
                <a:solidFill>
                  <a:srgbClr val="767676"/>
                </a:solidFill>
                <a:latin typeface="Aptos"/>
                <a:ea typeface="Aptos"/>
                <a:cs typeface="Aptos"/>
                <a:sym typeface="Aptos"/>
              </a:endParaRPr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6952E9A6-27EC-BC83-93B5-231E10925ED1}"/>
              </a:ext>
            </a:extLst>
          </p:cNvPr>
          <p:cNvSpPr txBox="1"/>
          <p:nvPr/>
        </p:nvSpPr>
        <p:spPr>
          <a:xfrm>
            <a:off x="718954" y="336840"/>
            <a:ext cx="14112406" cy="3796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9"/>
              </a:lnSpc>
            </a:pPr>
            <a:r>
              <a:rPr lang="en-US" sz="2823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Agenda</a:t>
            </a:r>
          </a:p>
        </p:txBody>
      </p:sp>
      <p:sp>
        <p:nvSpPr>
          <p:cNvPr id="8" name="Freeform 8" descr="A person in a sports garment  AI-generated content may be incorrect.">
            <a:extLst>
              <a:ext uri="{FF2B5EF4-FFF2-40B4-BE49-F238E27FC236}">
                <a16:creationId xmlns:a16="http://schemas.microsoft.com/office/drawing/2014/main" id="{1BA46415-E0D6-8B8C-6219-9935E014B2C5}"/>
              </a:ext>
            </a:extLst>
          </p:cNvPr>
          <p:cNvSpPr/>
          <p:nvPr/>
        </p:nvSpPr>
        <p:spPr>
          <a:xfrm>
            <a:off x="579991" y="1374260"/>
            <a:ext cx="5451072" cy="8046009"/>
          </a:xfrm>
          <a:custGeom>
            <a:avLst/>
            <a:gdLst/>
            <a:ahLst/>
            <a:cxnLst/>
            <a:rect l="l" t="t" r="r" b="b"/>
            <a:pathLst>
              <a:path w="5451072" h="8046009">
                <a:moveTo>
                  <a:pt x="0" y="0"/>
                </a:moveTo>
                <a:lnTo>
                  <a:pt x="5451071" y="0"/>
                </a:lnTo>
                <a:lnTo>
                  <a:pt x="5451071" y="8046009"/>
                </a:lnTo>
                <a:lnTo>
                  <a:pt x="0" y="804600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87" t="-1322" r="-1395" b="-5022"/>
            </a:stretch>
          </a:blipFill>
        </p:spPr>
        <p:txBody>
          <a:bodyPr/>
          <a:lstStyle/>
          <a:p>
            <a:endParaRPr lang="en-US"/>
          </a:p>
        </p:txBody>
      </p:sp>
      <p:graphicFrame>
        <p:nvGraphicFramePr>
          <p:cNvPr id="9" name="Table 9">
            <a:extLst>
              <a:ext uri="{FF2B5EF4-FFF2-40B4-BE49-F238E27FC236}">
                <a16:creationId xmlns:a16="http://schemas.microsoft.com/office/drawing/2014/main" id="{F81ACFC7-CA27-301B-AECC-D49DD7FA36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1923040"/>
              </p:ext>
            </p:extLst>
          </p:nvPr>
        </p:nvGraphicFramePr>
        <p:xfrm>
          <a:off x="6096000" y="1374260"/>
          <a:ext cx="11534588" cy="8046009"/>
        </p:xfrm>
        <a:graphic>
          <a:graphicData uri="http://schemas.openxmlformats.org/drawingml/2006/table">
            <a:tbl>
              <a:tblPr/>
              <a:tblGrid>
                <a:gridCol w="2025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095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86285">
                <a:tc>
                  <a:txBody>
                    <a:bodyPr/>
                    <a:lstStyle/>
                    <a:p>
                      <a:pPr algn="ctr">
                        <a:lnSpc>
                          <a:spcPts val="3388"/>
                        </a:lnSpc>
                        <a:defRPr/>
                      </a:pPr>
                      <a:r>
                        <a:rPr lang="en-US" sz="2823" b="1">
                          <a:solidFill>
                            <a:srgbClr val="8C7458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Part 1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88"/>
                        </a:lnSpc>
                        <a:defRPr/>
                      </a:pPr>
                      <a:r>
                        <a:rPr lang="en-US" sz="2823" b="1">
                          <a:solidFill>
                            <a:srgbClr val="000000"/>
                          </a:solidFill>
                          <a:latin typeface="Aptos Bold"/>
                          <a:sym typeface="Aptos Bold"/>
                        </a:rPr>
                        <a:t>Problem Statement and Solution Options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6285">
                <a:tc>
                  <a:txBody>
                    <a:bodyPr/>
                    <a:lstStyle/>
                    <a:p>
                      <a:pPr algn="ctr">
                        <a:lnSpc>
                          <a:spcPts val="3388"/>
                        </a:lnSpc>
                        <a:defRPr/>
                      </a:pPr>
                      <a:r>
                        <a:rPr lang="en-US" sz="2823" b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Part 2</a:t>
                      </a:r>
                      <a:endParaRPr lang="en-US" sz="11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88"/>
                        </a:lnSpc>
                        <a:defRPr/>
                      </a:pPr>
                      <a:r>
                        <a:rPr lang="en-US" sz="2823" b="1">
                          <a:solidFill>
                            <a:srgbClr val="000000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Leased Lines (Pros + Cons)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6285">
                <a:tc>
                  <a:txBody>
                    <a:bodyPr/>
                    <a:lstStyle/>
                    <a:p>
                      <a:pPr algn="ctr">
                        <a:lnSpc>
                          <a:spcPts val="3388"/>
                        </a:lnSpc>
                        <a:defRPr/>
                      </a:pPr>
                      <a:r>
                        <a:rPr lang="en-US" sz="2823" b="1">
                          <a:solidFill>
                            <a:schemeClr val="bg2">
                              <a:lumMod val="50000"/>
                            </a:schemeClr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Part 3</a:t>
                      </a:r>
                      <a:endParaRPr lang="en-US" sz="1100">
                        <a:solidFill>
                          <a:schemeClr val="bg2">
                            <a:lumMod val="50000"/>
                          </a:schemeClr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88"/>
                        </a:lnSpc>
                        <a:defRPr/>
                      </a:pPr>
                      <a:r>
                        <a:rPr lang="en-US" sz="2823" b="1">
                          <a:solidFill>
                            <a:srgbClr val="000000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Commercial analysis of Leased Lines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87154">
                <a:tc>
                  <a:txBody>
                    <a:bodyPr/>
                    <a:lstStyle/>
                    <a:p>
                      <a:pPr algn="ctr">
                        <a:lnSpc>
                          <a:spcPts val="3388"/>
                        </a:lnSpc>
                        <a:defRPr/>
                      </a:pPr>
                      <a:r>
                        <a:rPr lang="en-US" sz="2823" b="1">
                          <a:solidFill>
                            <a:schemeClr val="tx1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Part 4</a:t>
                      </a:r>
                      <a:endParaRPr lang="en-US" sz="1100">
                        <a:solidFill>
                          <a:schemeClr val="tx1"/>
                        </a:solidFill>
                      </a:endParaRPr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3388"/>
                        </a:lnSpc>
                        <a:defRPr/>
                      </a:pPr>
                      <a:r>
                        <a:rPr lang="en-US" sz="2823" b="1">
                          <a:solidFill>
                            <a:srgbClr val="000000"/>
                          </a:solidFill>
                          <a:latin typeface="Aptos Bold"/>
                          <a:ea typeface="Aptos Bold"/>
                          <a:cs typeface="Aptos Bold"/>
                          <a:sym typeface="Aptos Bold"/>
                        </a:rPr>
                        <a:t>Further Considerations and Next Steps</a:t>
                      </a:r>
                      <a:endParaRPr lang="en-US" sz="1100"/>
                    </a:p>
                  </a:txBody>
                  <a:tcPr marT="91440" marB="9144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pSp>
        <p:nvGrpSpPr>
          <p:cNvPr id="10" name="Group 10">
            <a:extLst>
              <a:ext uri="{FF2B5EF4-FFF2-40B4-BE49-F238E27FC236}">
                <a16:creationId xmlns:a16="http://schemas.microsoft.com/office/drawing/2014/main" id="{5AAD57D0-A315-9920-5828-45F700108D5A}"/>
              </a:ext>
            </a:extLst>
          </p:cNvPr>
          <p:cNvGrpSpPr/>
          <p:nvPr/>
        </p:nvGrpSpPr>
        <p:grpSpPr>
          <a:xfrm>
            <a:off x="15476045" y="107974"/>
            <a:ext cx="2010935" cy="666122"/>
            <a:chOff x="0" y="0"/>
            <a:chExt cx="6926578" cy="2294428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C355A2B4-9DBC-15E2-F8F4-FFF6C26222BF}"/>
                </a:ext>
              </a:extLst>
            </p:cNvPr>
            <p:cNvSpPr/>
            <p:nvPr/>
          </p:nvSpPr>
          <p:spPr>
            <a:xfrm>
              <a:off x="0" y="0"/>
              <a:ext cx="6926580" cy="2294382"/>
            </a:xfrm>
            <a:custGeom>
              <a:avLst/>
              <a:gdLst/>
              <a:ahLst/>
              <a:cxnLst/>
              <a:rect l="l" t="t" r="r" b="b"/>
              <a:pathLst>
                <a:path w="6926580" h="2294382">
                  <a:moveTo>
                    <a:pt x="0" y="0"/>
                  </a:moveTo>
                  <a:lnTo>
                    <a:pt x="6926580" y="0"/>
                  </a:lnTo>
                  <a:lnTo>
                    <a:pt x="6926580" y="2294382"/>
                  </a:lnTo>
                  <a:lnTo>
                    <a:pt x="0" y="229438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41" b="-43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F99A6B2F-1337-1E02-A1BA-B67CBE4672FE}"/>
              </a:ext>
            </a:extLst>
          </p:cNvPr>
          <p:cNvSpPr/>
          <p:nvPr/>
        </p:nvSpPr>
        <p:spPr>
          <a:xfrm>
            <a:off x="14831360" y="107974"/>
            <a:ext cx="3187806" cy="666109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69063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72A29-0390-D4F7-34A6-1BDA4008C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E5216ECC-1C28-EE23-6B3E-4B0DEDC16D0B}"/>
              </a:ext>
            </a:extLst>
          </p:cNvPr>
          <p:cNvSpPr/>
          <p:nvPr/>
        </p:nvSpPr>
        <p:spPr>
          <a:xfrm>
            <a:off x="5" y="1223430"/>
            <a:ext cx="18307050" cy="1905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B782C81C-8A54-E27E-DE78-20DE456633C5}"/>
              </a:ext>
            </a:extLst>
          </p:cNvPr>
          <p:cNvSpPr txBox="1"/>
          <p:nvPr/>
        </p:nvSpPr>
        <p:spPr>
          <a:xfrm>
            <a:off x="268834" y="350301"/>
            <a:ext cx="14492610" cy="7797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3000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Initial partner location will focus on 3 countries to hedge against tariff issues. However, the Philippines are our priority with best the overall long-term opportunity.</a:t>
            </a:r>
          </a:p>
        </p:txBody>
      </p:sp>
      <p:pic>
        <p:nvPicPr>
          <p:cNvPr id="1026" name="Picture 2" descr="National flag of Philippines - Flat color icon. 16833622 ...">
            <a:extLst>
              <a:ext uri="{FF2B5EF4-FFF2-40B4-BE49-F238E27FC236}">
                <a16:creationId xmlns:a16="http://schemas.microsoft.com/office/drawing/2014/main" id="{9AB87AC9-A681-FC33-FABB-F585816971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877" y="5094789"/>
            <a:ext cx="2144244" cy="24124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35" name="Table 34">
            <a:extLst>
              <a:ext uri="{FF2B5EF4-FFF2-40B4-BE49-F238E27FC236}">
                <a16:creationId xmlns:a16="http://schemas.microsoft.com/office/drawing/2014/main" id="{373AA9E0-DC57-C858-79A9-6409107365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854105"/>
              </p:ext>
            </p:extLst>
          </p:nvPr>
        </p:nvGraphicFramePr>
        <p:xfrm>
          <a:off x="846166" y="1612996"/>
          <a:ext cx="16608956" cy="28253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4126">
                  <a:extLst>
                    <a:ext uri="{9D8B030D-6E8A-4147-A177-3AD203B41FA5}">
                      <a16:colId xmlns:a16="http://schemas.microsoft.com/office/drawing/2014/main" val="1894173335"/>
                    </a:ext>
                  </a:extLst>
                </a:gridCol>
                <a:gridCol w="2281010">
                  <a:extLst>
                    <a:ext uri="{9D8B030D-6E8A-4147-A177-3AD203B41FA5}">
                      <a16:colId xmlns:a16="http://schemas.microsoft.com/office/drawing/2014/main" val="1247150340"/>
                    </a:ext>
                  </a:extLst>
                </a:gridCol>
                <a:gridCol w="2487331">
                  <a:extLst>
                    <a:ext uri="{9D8B030D-6E8A-4147-A177-3AD203B41FA5}">
                      <a16:colId xmlns:a16="http://schemas.microsoft.com/office/drawing/2014/main" val="929620904"/>
                    </a:ext>
                  </a:extLst>
                </a:gridCol>
                <a:gridCol w="2109073">
                  <a:extLst>
                    <a:ext uri="{9D8B030D-6E8A-4147-A177-3AD203B41FA5}">
                      <a16:colId xmlns:a16="http://schemas.microsoft.com/office/drawing/2014/main" val="422971777"/>
                    </a:ext>
                  </a:extLst>
                </a:gridCol>
                <a:gridCol w="2292472">
                  <a:extLst>
                    <a:ext uri="{9D8B030D-6E8A-4147-A177-3AD203B41FA5}">
                      <a16:colId xmlns:a16="http://schemas.microsoft.com/office/drawing/2014/main" val="2371819792"/>
                    </a:ext>
                  </a:extLst>
                </a:gridCol>
                <a:gridCol w="2292472">
                  <a:extLst>
                    <a:ext uri="{9D8B030D-6E8A-4147-A177-3AD203B41FA5}">
                      <a16:colId xmlns:a16="http://schemas.microsoft.com/office/drawing/2014/main" val="1504627207"/>
                    </a:ext>
                  </a:extLst>
                </a:gridCol>
                <a:gridCol w="2292472">
                  <a:extLst>
                    <a:ext uri="{9D8B030D-6E8A-4147-A177-3AD203B41FA5}">
                      <a16:colId xmlns:a16="http://schemas.microsoft.com/office/drawing/2014/main" val="283816081"/>
                    </a:ext>
                  </a:extLst>
                </a:gridCol>
              </a:tblGrid>
              <a:tr h="1058862">
                <a:tc>
                  <a:txBody>
                    <a:bodyPr/>
                    <a:lstStyle/>
                    <a:p>
                      <a:endParaRPr lang="en-US" sz="2400">
                        <a:latin typeface="+mj-lt"/>
                      </a:endParaRPr>
                    </a:p>
                  </a:txBody>
                  <a:tcPr marL="96284" marR="96284" marT="48142" marB="481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+mj-lt"/>
                        </a:rPr>
                        <a:t>Population Fertility</a:t>
                      </a:r>
                    </a:p>
                  </a:txBody>
                  <a:tcPr marL="96284" marR="96284" marT="48142" marB="481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+mj-lt"/>
                        </a:rPr>
                        <a:t>Potential Trump Tariff</a:t>
                      </a:r>
                    </a:p>
                  </a:txBody>
                  <a:tcPr marL="96284" marR="96284" marT="48142" marB="481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+mj-lt"/>
                        </a:rPr>
                        <a:t>Worker Cost</a:t>
                      </a:r>
                    </a:p>
                  </a:txBody>
                  <a:tcPr marL="96284" marR="96284" marT="48142" marB="481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+mj-lt"/>
                        </a:rPr>
                        <a:t>Annual Increases</a:t>
                      </a:r>
                    </a:p>
                  </a:txBody>
                  <a:tcPr marL="96284" marR="96284" marT="48142" marB="481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+mj-lt"/>
                        </a:rPr>
                        <a:t>Apparel exports 2024</a:t>
                      </a:r>
                    </a:p>
                  </a:txBody>
                  <a:tcPr marL="96284" marR="96284" marT="48142" marB="481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+mj-lt"/>
                        </a:rPr>
                        <a:t>World Bank Unemployment</a:t>
                      </a:r>
                    </a:p>
                  </a:txBody>
                  <a:tcPr marL="96284" marR="96284" marT="48142" marB="48142" anchor="ctr"/>
                </a:tc>
                <a:extLst>
                  <a:ext uri="{0D108BD9-81ED-4DB2-BD59-A6C34878D82A}">
                    <a16:rowId xmlns:a16="http://schemas.microsoft.com/office/drawing/2014/main" val="928713316"/>
                  </a:ext>
                </a:extLst>
              </a:tr>
              <a:tr h="588824">
                <a:tc>
                  <a:txBody>
                    <a:bodyPr/>
                    <a:lstStyle/>
                    <a:p>
                      <a:r>
                        <a:rPr lang="en-US" sz="2400">
                          <a:latin typeface="+mj-lt"/>
                        </a:rPr>
                        <a:t>       Philippines</a:t>
                      </a:r>
                    </a:p>
                  </a:txBody>
                  <a:tcPr marL="96284" marR="96284" marT="48142" marB="481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+mj-lt"/>
                        </a:rPr>
                        <a:t>115M / 1.9</a:t>
                      </a:r>
                    </a:p>
                  </a:txBody>
                  <a:tcPr marL="96284" marR="96284" marT="48142" marB="481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latin typeface="+mj-lt"/>
                        </a:rPr>
                        <a:t>17%</a:t>
                      </a:r>
                    </a:p>
                  </a:txBody>
                  <a:tcPr marL="96284" marR="96284" marT="48142" marB="481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>
                          <a:latin typeface="+mj-lt"/>
                        </a:rPr>
                        <a:t>$300-$350</a:t>
                      </a:r>
                    </a:p>
                  </a:txBody>
                  <a:tcPr marL="96284" marR="96284" marT="48142" marB="481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+mj-lt"/>
                        </a:rPr>
                        <a:t>5.5%</a:t>
                      </a:r>
                    </a:p>
                  </a:txBody>
                  <a:tcPr marL="96284" marR="96284" marT="48142" marB="481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+mj-lt"/>
                        </a:rPr>
                        <a:t>$1.4bn</a:t>
                      </a:r>
                    </a:p>
                  </a:txBody>
                  <a:tcPr marL="96284" marR="96284" marT="48142" marB="481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+mj-lt"/>
                        </a:rPr>
                        <a:t>3.8%</a:t>
                      </a:r>
                    </a:p>
                  </a:txBody>
                  <a:tcPr marL="96284" marR="96284" marT="48142" marB="48142" anchor="ctr"/>
                </a:tc>
                <a:extLst>
                  <a:ext uri="{0D108BD9-81ED-4DB2-BD59-A6C34878D82A}">
                    <a16:rowId xmlns:a16="http://schemas.microsoft.com/office/drawing/2014/main" val="57157015"/>
                  </a:ext>
                </a:extLst>
              </a:tr>
              <a:tr h="588824">
                <a:tc>
                  <a:txBody>
                    <a:bodyPr/>
                    <a:lstStyle/>
                    <a:p>
                      <a:r>
                        <a:rPr lang="en-US" sz="2400">
                          <a:latin typeface="+mj-lt"/>
                        </a:rPr>
                        <a:t>       Cambodia</a:t>
                      </a:r>
                    </a:p>
                  </a:txBody>
                  <a:tcPr marL="96284" marR="96284" marT="48142" marB="481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+mj-lt"/>
                        </a:rPr>
                        <a:t>17M / 2.6</a:t>
                      </a:r>
                    </a:p>
                  </a:txBody>
                  <a:tcPr marL="96284" marR="96284" marT="48142" marB="481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+mj-lt"/>
                        </a:rPr>
                        <a:t>49%</a:t>
                      </a:r>
                    </a:p>
                  </a:txBody>
                  <a:tcPr marL="96284" marR="96284" marT="48142" marB="481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+mj-lt"/>
                        </a:rPr>
                        <a:t>$400- $450</a:t>
                      </a:r>
                    </a:p>
                  </a:txBody>
                  <a:tcPr marL="96284" marR="96284" marT="48142" marB="481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+mj-lt"/>
                        </a:rPr>
                        <a:t>6%</a:t>
                      </a:r>
                    </a:p>
                  </a:txBody>
                  <a:tcPr marL="96284" marR="96284" marT="48142" marB="481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+mj-lt"/>
                        </a:rPr>
                        <a:t>$13.7bn</a:t>
                      </a:r>
                    </a:p>
                  </a:txBody>
                  <a:tcPr marL="96284" marR="96284" marT="48142" marB="481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+mj-lt"/>
                        </a:rPr>
                        <a:t>0.27%</a:t>
                      </a:r>
                    </a:p>
                  </a:txBody>
                  <a:tcPr marL="96284" marR="96284" marT="48142" marB="48142" anchor="ctr"/>
                </a:tc>
                <a:extLst>
                  <a:ext uri="{0D108BD9-81ED-4DB2-BD59-A6C34878D82A}">
                    <a16:rowId xmlns:a16="http://schemas.microsoft.com/office/drawing/2014/main" val="1144709047"/>
                  </a:ext>
                </a:extLst>
              </a:tr>
              <a:tr h="588824">
                <a:tc>
                  <a:txBody>
                    <a:bodyPr/>
                    <a:lstStyle/>
                    <a:p>
                      <a:r>
                        <a:rPr lang="en-US" sz="2400">
                          <a:latin typeface="+mj-lt"/>
                        </a:rPr>
                        <a:t>        Vietnam</a:t>
                      </a:r>
                    </a:p>
                  </a:txBody>
                  <a:tcPr marL="96284" marR="96284" marT="48142" marB="481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+mj-lt"/>
                        </a:rPr>
                        <a:t>100M/ 1.9</a:t>
                      </a:r>
                    </a:p>
                  </a:txBody>
                  <a:tcPr marL="96284" marR="96284" marT="48142" marB="481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+mj-lt"/>
                        </a:rPr>
                        <a:t>46%</a:t>
                      </a:r>
                    </a:p>
                  </a:txBody>
                  <a:tcPr marL="96284" marR="96284" marT="48142" marB="481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+mj-lt"/>
                        </a:rPr>
                        <a:t>$430-$500</a:t>
                      </a:r>
                    </a:p>
                  </a:txBody>
                  <a:tcPr marL="96284" marR="96284" marT="48142" marB="481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+mj-lt"/>
                        </a:rPr>
                        <a:t>6-7%</a:t>
                      </a:r>
                    </a:p>
                  </a:txBody>
                  <a:tcPr marL="96284" marR="96284" marT="48142" marB="481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+mj-lt"/>
                        </a:rPr>
                        <a:t>$44bn</a:t>
                      </a:r>
                    </a:p>
                  </a:txBody>
                  <a:tcPr marL="96284" marR="96284" marT="48142" marB="48142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>
                          <a:latin typeface="+mj-lt"/>
                        </a:rPr>
                        <a:t>2.24%</a:t>
                      </a:r>
                    </a:p>
                  </a:txBody>
                  <a:tcPr marL="96284" marR="96284" marT="48142" marB="48142" anchor="ctr"/>
                </a:tc>
                <a:extLst>
                  <a:ext uri="{0D108BD9-81ED-4DB2-BD59-A6C34878D82A}">
                    <a16:rowId xmlns:a16="http://schemas.microsoft.com/office/drawing/2014/main" val="1239099740"/>
                  </a:ext>
                </a:extLst>
              </a:tr>
            </a:tbl>
          </a:graphicData>
        </a:graphic>
      </p:graphicFrame>
      <p:pic>
        <p:nvPicPr>
          <p:cNvPr id="36" name="Picture 2" descr="National flag of Philippines - Flat color icon. 16833622 ...">
            <a:extLst>
              <a:ext uri="{FF2B5EF4-FFF2-40B4-BE49-F238E27FC236}">
                <a16:creationId xmlns:a16="http://schemas.microsoft.com/office/drawing/2014/main" id="{23813671-6B0C-2E15-1E79-3E795B92FE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28" y="2700587"/>
            <a:ext cx="457924" cy="5319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National flag of cambodia with correct proportions">
            <a:extLst>
              <a:ext uri="{FF2B5EF4-FFF2-40B4-BE49-F238E27FC236}">
                <a16:creationId xmlns:a16="http://schemas.microsoft.com/office/drawing/2014/main" id="{22FFA378-AD2B-2CC7-A713-CBA925DEC2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28" y="3281651"/>
            <a:ext cx="457924" cy="531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>
            <a:extLst>
              <a:ext uri="{FF2B5EF4-FFF2-40B4-BE49-F238E27FC236}">
                <a16:creationId xmlns:a16="http://schemas.microsoft.com/office/drawing/2014/main" id="{096B3698-8F56-F26D-25D0-8A4A2224EA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0728" y="3910593"/>
            <a:ext cx="457924" cy="456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3DCD3DA0-C6EC-8FE4-5B99-75CEA636F0A5}"/>
              </a:ext>
            </a:extLst>
          </p:cNvPr>
          <p:cNvGrpSpPr/>
          <p:nvPr/>
        </p:nvGrpSpPr>
        <p:grpSpPr>
          <a:xfrm>
            <a:off x="832877" y="7766293"/>
            <a:ext cx="2144244" cy="2368391"/>
            <a:chOff x="838199" y="7688014"/>
            <a:chExt cx="1752600" cy="1945637"/>
          </a:xfrm>
        </p:grpSpPr>
        <p:pic>
          <p:nvPicPr>
            <p:cNvPr id="8" name="Picture 6">
              <a:extLst>
                <a:ext uri="{FF2B5EF4-FFF2-40B4-BE49-F238E27FC236}">
                  <a16:creationId xmlns:a16="http://schemas.microsoft.com/office/drawing/2014/main" id="{CA7264CD-D2BE-3B52-B2B7-936A1325FC3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199" y="8660832"/>
              <a:ext cx="1752599" cy="9728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9" name="Picture 4" descr="National flag of cambodia with correct proportions">
              <a:extLst>
                <a:ext uri="{FF2B5EF4-FFF2-40B4-BE49-F238E27FC236}">
                  <a16:creationId xmlns:a16="http://schemas.microsoft.com/office/drawing/2014/main" id="{87C19013-0AB6-0EBE-BEF9-43A4C8BFA86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29349"/>
            <a:stretch/>
          </p:blipFill>
          <p:spPr bwMode="auto">
            <a:xfrm>
              <a:off x="838200" y="7688014"/>
              <a:ext cx="1752599" cy="97281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6" name="Rectangle 5">
            <a:extLst>
              <a:ext uri="{FF2B5EF4-FFF2-40B4-BE49-F238E27FC236}">
                <a16:creationId xmlns:a16="http://schemas.microsoft.com/office/drawing/2014/main" id="{6810175A-E4A5-FA02-4369-BF40C15FED9C}"/>
              </a:ext>
            </a:extLst>
          </p:cNvPr>
          <p:cNvSpPr/>
          <p:nvPr/>
        </p:nvSpPr>
        <p:spPr>
          <a:xfrm>
            <a:off x="3276597" y="4661963"/>
            <a:ext cx="7069385" cy="402131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latin typeface="+mj-lt"/>
              </a:rPr>
              <a:t>Pros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629D8A-DF52-9665-26B8-C0D1BD0CB077}"/>
              </a:ext>
            </a:extLst>
          </p:cNvPr>
          <p:cNvSpPr/>
          <p:nvPr/>
        </p:nvSpPr>
        <p:spPr>
          <a:xfrm>
            <a:off x="10385737" y="4661964"/>
            <a:ext cx="7069385" cy="402131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latin typeface="+mj-lt"/>
              </a:rPr>
              <a:t>Cons</a:t>
            </a:r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6732520-6BDF-CF1C-7A56-B50C98F999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8802519"/>
              </p:ext>
            </p:extLst>
          </p:nvPr>
        </p:nvGraphicFramePr>
        <p:xfrm>
          <a:off x="3276596" y="5094789"/>
          <a:ext cx="14178526" cy="5039895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089263">
                  <a:extLst>
                    <a:ext uri="{9D8B030D-6E8A-4147-A177-3AD203B41FA5}">
                      <a16:colId xmlns:a16="http://schemas.microsoft.com/office/drawing/2014/main" val="2618482980"/>
                    </a:ext>
                  </a:extLst>
                </a:gridCol>
                <a:gridCol w="7089263">
                  <a:extLst>
                    <a:ext uri="{9D8B030D-6E8A-4147-A177-3AD203B41FA5}">
                      <a16:colId xmlns:a16="http://schemas.microsoft.com/office/drawing/2014/main" val="768643196"/>
                    </a:ext>
                  </a:extLst>
                </a:gridCol>
              </a:tblGrid>
              <a:tr h="2569056"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Best overall </a:t>
                      </a:r>
                      <a:r>
                        <a:rPr lang="en-US" sz="2400" b="0">
                          <a:solidFill>
                            <a:schemeClr val="tx1"/>
                          </a:solidFill>
                        </a:rPr>
                        <a:t>long-term diversification option vs. China, </a:t>
                      </a:r>
                      <a:r>
                        <a:rPr lang="en-US" sz="2400" b="0">
                          <a:solidFill>
                            <a:schemeClr val="tx1"/>
                          </a:solidFill>
                          <a:latin typeface="+mj-lt"/>
                        </a:rPr>
                        <a:t>geopolitically</a:t>
                      </a:r>
                      <a:r>
                        <a:rPr lang="en-US" sz="2400" b="0">
                          <a:solidFill>
                            <a:schemeClr val="tx1"/>
                          </a:solidFill>
                        </a:rPr>
                        <a:t> - </a:t>
                      </a:r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not a “hot” market 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Open capacity </a:t>
                      </a:r>
                      <a:r>
                        <a:rPr lang="en-US" sz="2400" b="0">
                          <a:solidFill>
                            <a:schemeClr val="tx1"/>
                          </a:solidFill>
                        </a:rPr>
                        <a:t>in right-sized partners available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</a:rPr>
                        <a:t>Visited factories have low turnover, good skills, and relative ease of hiring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</a:rPr>
                        <a:t>Sufficient concentration of potential partners in locations to allow </a:t>
                      </a:r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for sourcing effectiveness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</a:rPr>
                        <a:t>Less developed ecosystem for supply chain, fabrics, trim etc.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000" b="0">
                        <a:solidFill>
                          <a:schemeClr val="tx1"/>
                        </a:solidFill>
                      </a:endParaRP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400" b="0">
                          <a:solidFill>
                            <a:schemeClr val="tx1"/>
                          </a:solidFill>
                        </a:rPr>
                        <a:t>Longer lead times to and from China and to the USA with fewer sailings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000" b="0">
                        <a:solidFill>
                          <a:schemeClr val="tx1"/>
                        </a:solidFill>
                      </a:endParaRP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Overall less experienced </a:t>
                      </a:r>
                      <a:r>
                        <a:rPr lang="en-US" sz="2400" b="0">
                          <a:solidFill>
                            <a:schemeClr val="tx1"/>
                          </a:solidFill>
                        </a:rPr>
                        <a:t>in the garment industry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41906082"/>
                  </a:ext>
                </a:extLst>
              </a:tr>
              <a:tr h="2388135"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Proximity to China for sourcing and large numbers of Chinese factories in both countries 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000">
                        <a:solidFill>
                          <a:schemeClr val="tx1"/>
                        </a:solidFill>
                      </a:endParaRP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Vietnam is </a:t>
                      </a:r>
                      <a:r>
                        <a:rPr lang="en-US" sz="2400" b="0">
                          <a:solidFill>
                            <a:schemeClr val="tx1"/>
                          </a:solidFill>
                        </a:rPr>
                        <a:t>building</a:t>
                      </a:r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 sophisticated supply chains</a:t>
                      </a:r>
                    </a:p>
                    <a:p>
                      <a:pPr marL="0" indent="0">
                        <a:buFont typeface="Arial" panose="020B0604020202020204" pitchFamily="34" charset="0"/>
                        <a:buNone/>
                      </a:pPr>
                      <a:endParaRPr lang="en-US" sz="1000">
                        <a:solidFill>
                          <a:schemeClr val="tx1"/>
                        </a:solidFill>
                      </a:endParaRP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FTA in place for EU, though Cambodia has issues to maintain. Vietnam large variety of FTA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Costs are rising faster in both due to fast industrialization and new FDI</a:t>
                      </a:r>
                    </a:p>
                    <a:p>
                      <a:pPr marL="914400" lvl="1" indent="-457200">
                        <a:buFont typeface="Wingdings" panose="05000000000000000000" pitchFamily="2" charset="2"/>
                        <a:buChar char="§"/>
                      </a:pP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Tight labor markets</a:t>
                      </a:r>
                    </a:p>
                    <a:p>
                      <a:pPr marL="457200" lvl="1" indent="0">
                        <a:buFont typeface="Wingdings" panose="05000000000000000000" pitchFamily="2" charset="2"/>
                        <a:buNone/>
                      </a:pPr>
                      <a:endParaRPr lang="en-US" sz="1000">
                        <a:solidFill>
                          <a:schemeClr val="tx1"/>
                        </a:solidFill>
                      </a:endParaRP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400">
                          <a:solidFill>
                            <a:schemeClr val="tx1"/>
                          </a:solidFill>
                        </a:rPr>
                        <a:t>Partners in both countries have options and are in  a position of strength and thus </a:t>
                      </a:r>
                      <a:r>
                        <a:rPr lang="en-US" sz="2400" b="1">
                          <a:solidFill>
                            <a:schemeClr val="tx1"/>
                          </a:solidFill>
                        </a:rPr>
                        <a:t>harder to deal with </a:t>
                      </a:r>
                    </a:p>
                  </a:txBody>
                  <a:tcP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86910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6361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2E6FB2-C66B-DFBA-9635-1E988C3B9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999E3F25-93D6-2566-9D61-1DD6A1822FA9}"/>
              </a:ext>
            </a:extLst>
          </p:cNvPr>
          <p:cNvSpPr/>
          <p:nvPr/>
        </p:nvSpPr>
        <p:spPr>
          <a:xfrm>
            <a:off x="5" y="1223430"/>
            <a:ext cx="18307050" cy="1905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034543AC-6A1E-FD33-4E62-400D82C5F0A8}"/>
              </a:ext>
            </a:extLst>
          </p:cNvPr>
          <p:cNvSpPr txBox="1"/>
          <p:nvPr/>
        </p:nvSpPr>
        <p:spPr>
          <a:xfrm>
            <a:off x="457200" y="352033"/>
            <a:ext cx="14295908" cy="7735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823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We have 3 potential partners with demonstrated interest in supporting 2 lease lines. The Philippines is our priority, but we’ll continue to negotiate with Vietnam and Cambodia.</a:t>
            </a:r>
          </a:p>
        </p:txBody>
      </p:sp>
      <p:pic>
        <p:nvPicPr>
          <p:cNvPr id="6" name="Picture 5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CF7666A3-575F-6771-287D-1F81A38D8F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1929" y="1328371"/>
            <a:ext cx="16249650" cy="2495550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44B8C9D-B75A-66C9-0109-1A8F1AB6B6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6519223"/>
              </p:ext>
            </p:extLst>
          </p:nvPr>
        </p:nvGraphicFramePr>
        <p:xfrm>
          <a:off x="557793" y="4144991"/>
          <a:ext cx="16974641" cy="60340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263">
                  <a:extLst>
                    <a:ext uri="{9D8B030D-6E8A-4147-A177-3AD203B41FA5}">
                      <a16:colId xmlns:a16="http://schemas.microsoft.com/office/drawing/2014/main" val="860733711"/>
                    </a:ext>
                  </a:extLst>
                </a:gridCol>
                <a:gridCol w="5144622">
                  <a:extLst>
                    <a:ext uri="{9D8B030D-6E8A-4147-A177-3AD203B41FA5}">
                      <a16:colId xmlns:a16="http://schemas.microsoft.com/office/drawing/2014/main" val="2188532160"/>
                    </a:ext>
                  </a:extLst>
                </a:gridCol>
                <a:gridCol w="5429643">
                  <a:extLst>
                    <a:ext uri="{9D8B030D-6E8A-4147-A177-3AD203B41FA5}">
                      <a16:colId xmlns:a16="http://schemas.microsoft.com/office/drawing/2014/main" val="693290180"/>
                    </a:ext>
                  </a:extLst>
                </a:gridCol>
                <a:gridCol w="5388113">
                  <a:extLst>
                    <a:ext uri="{9D8B030D-6E8A-4147-A177-3AD203B41FA5}">
                      <a16:colId xmlns:a16="http://schemas.microsoft.com/office/drawing/2014/main" val="3964541017"/>
                    </a:ext>
                  </a:extLst>
                </a:gridCol>
              </a:tblGrid>
              <a:tr h="91574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Company 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Company 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Company 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79849281"/>
                  </a:ext>
                </a:extLst>
              </a:tr>
              <a:tr h="2823882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Pros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lvl="0" indent="-285750" algn="l">
                        <a:spcAft>
                          <a:spcPts val="10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7 vacant lines</a:t>
                      </a:r>
                      <a:endParaRPr lang="en-US" dirty="0"/>
                    </a:p>
                    <a:p>
                      <a:pPr marL="285750" lvl="0" indent="-285750" algn="l">
                        <a:spcAft>
                          <a:spcPts val="10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"Zero" tax from import and export because within Clark freeport zone</a:t>
                      </a:r>
                      <a:endParaRPr lang="en-US" dirty="0"/>
                    </a:p>
                    <a:p>
                      <a:pPr marL="285750" lvl="0" indent="-285750" algn="l">
                        <a:spcAft>
                          <a:spcPts val="10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Good house-keeping, 5S, and environment</a:t>
                      </a:r>
                      <a:endParaRPr lang="en-US" dirty="0"/>
                    </a:p>
                    <a:p>
                      <a:pPr marL="285750" lvl="0" indent="-285750" algn="l">
                        <a:spcAft>
                          <a:spcPts val="10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High security level, health, and safety</a:t>
                      </a:r>
                      <a:endParaRPr lang="en-US" dirty="0"/>
                    </a:p>
                    <a:p>
                      <a:pPr marL="285750" lvl="0" indent="-285750" algn="l">
                        <a:spcAft>
                          <a:spcPts val="100"/>
                        </a:spcAft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Close to Clark international airport, 15-20 mins drive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Spare building, opportunity to expand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"Zero" tax from import and export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Laser-cutting machine, molded bra machine, heat transfer label machine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High security level, health, and safety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It has 2 factories in the Philippines</a:t>
                      </a:r>
                      <a:b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</a:b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and it has US customer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Wrap certification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It has spare capacity opportunity to work </a:t>
                      </a:r>
                      <a:r>
                        <a:rPr lang="en-US" sz="1800" b="0" i="0" u="none" strike="noStrike" noProof="0">
                          <a:solidFill>
                            <a:srgbClr val="000000"/>
                          </a:solidFill>
                          <a:latin typeface="Calibri"/>
                        </a:rPr>
                        <a:t>with AAG </a:t>
                      </a: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for order allocation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Product diversification, factory can do a variety of product types in sample and bulk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Good house-keeping, 5S, and environment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Lower labor wages rate low because rural area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With US Customer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Wrap Certification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2269673"/>
                  </a:ext>
                </a:extLst>
              </a:tr>
              <a:tr h="2294404">
                <a:tc>
                  <a:txBody>
                    <a:bodyPr/>
                    <a:lstStyle/>
                    <a:p>
                      <a:pPr algn="ctr"/>
                      <a:r>
                        <a:rPr lang="en-US" sz="2400" dirty="0"/>
                        <a:t>Cons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Limited &amp; basic machineries, no laser cutting, auto cutting, bonding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Small sample room, less sewing workers and using manual pattern.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No US customer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No Wrap Certification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Sewing production floor is narrow limits production to low SMV types</a:t>
                      </a:r>
                    </a:p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housekeeping issue, messy sewing area</a:t>
                      </a:r>
                    </a:p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Relatively simple product types and range</a:t>
                      </a:r>
                    </a:p>
                    <a:p>
                      <a:pPr marL="285750" lvl="0" indent="-285750" algn="l"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Management has no sense of urgency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Limited &amp; basic machinery, no special machines like laser cutting, auto cutting, bonding, seams-sealing, etc.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Facility is less secure because rural area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Embro, printing sub-con partner is too far from the factory.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US" sz="1800" b="0" i="0" u="none" strike="noStrike" noProof="0" dirty="0">
                          <a:solidFill>
                            <a:srgbClr val="000000"/>
                          </a:solidFill>
                          <a:latin typeface="Calibri"/>
                        </a:rPr>
                        <a:t>1.5 - 2hrs from Manila International airport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21475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907449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051BA2-F27D-6509-61B8-EA804A825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54F1A1D5-C690-9464-60D1-6C517042969B}"/>
              </a:ext>
            </a:extLst>
          </p:cNvPr>
          <p:cNvSpPr/>
          <p:nvPr/>
        </p:nvSpPr>
        <p:spPr>
          <a:xfrm>
            <a:off x="5" y="1223430"/>
            <a:ext cx="18307050" cy="1905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>
              <a:latin typeface="+mj-lt"/>
            </a:endParaRP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505627E3-AD12-2A82-345A-5A88035F2B4D}"/>
              </a:ext>
            </a:extLst>
          </p:cNvPr>
          <p:cNvSpPr txBox="1"/>
          <p:nvPr/>
        </p:nvSpPr>
        <p:spPr>
          <a:xfrm>
            <a:off x="517097" y="232797"/>
            <a:ext cx="13599566" cy="7748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3000" b="1">
                <a:solidFill>
                  <a:srgbClr val="000000"/>
                </a:solidFill>
                <a:latin typeface="+mj-lt"/>
                <a:ea typeface="Aptos Bold"/>
                <a:cs typeface="Aptos Bold"/>
                <a:sym typeface="Aptos Bold"/>
              </a:rPr>
              <a:t>We will plan to present non-binding MOU to potential partners and align with anchor customers.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9591B6-E2B2-64BA-874A-816C03A7EF88}"/>
              </a:ext>
            </a:extLst>
          </p:cNvPr>
          <p:cNvSpPr txBox="1"/>
          <p:nvPr/>
        </p:nvSpPr>
        <p:spPr>
          <a:xfrm>
            <a:off x="609600" y="1575710"/>
            <a:ext cx="201414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b="1">
                <a:latin typeface="+mj-lt"/>
                <a:ea typeface="Calibri" panose="020F0502020204030204" pitchFamily="34" charset="0"/>
                <a:cs typeface="Calibri" panose="020F0502020204030204" pitchFamily="34" charset="0"/>
              </a:rPr>
              <a:t>Key next steps</a:t>
            </a:r>
          </a:p>
        </p:txBody>
      </p:sp>
      <p:sp>
        <p:nvSpPr>
          <p:cNvPr id="13" name="AutoShape 2">
            <a:extLst>
              <a:ext uri="{FF2B5EF4-FFF2-40B4-BE49-F238E27FC236}">
                <a16:creationId xmlns:a16="http://schemas.microsoft.com/office/drawing/2014/main" id="{01B6685A-4B48-2514-EEB9-A531838E3FFE}"/>
              </a:ext>
            </a:extLst>
          </p:cNvPr>
          <p:cNvSpPr/>
          <p:nvPr/>
        </p:nvSpPr>
        <p:spPr>
          <a:xfrm>
            <a:off x="609600" y="2028489"/>
            <a:ext cx="17079686" cy="17773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2400"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6562E7-E5C3-9F8E-4F9E-D23938FFE8A2}"/>
              </a:ext>
            </a:extLst>
          </p:cNvPr>
          <p:cNvSpPr txBox="1"/>
          <p:nvPr/>
        </p:nvSpPr>
        <p:spPr>
          <a:xfrm>
            <a:off x="598714" y="2007322"/>
            <a:ext cx="15708086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04515" lvl="1" indent="-302257" algn="l">
              <a:lnSpc>
                <a:spcPts val="391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Canva Sans"/>
              </a:rPr>
              <a:t>Complete the MOU discussions with Philippine based suppliers</a:t>
            </a:r>
          </a:p>
          <a:p>
            <a:pPr marL="604515" lvl="1" indent="-302257" algn="l">
              <a:lnSpc>
                <a:spcPts val="391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Canva Sans"/>
              </a:rPr>
              <a:t>Negotiating transparent cost and incentive structure with potential partners looking for a win-win</a:t>
            </a:r>
          </a:p>
          <a:p>
            <a:pPr marL="604515" lvl="1" indent="-302257" algn="l">
              <a:lnSpc>
                <a:spcPts val="391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Canva Sans"/>
              </a:rPr>
              <a:t>Developing  business and operations plans with partners: hiring, skills, layouts, training, planning etc. </a:t>
            </a:r>
          </a:p>
          <a:p>
            <a:pPr marL="604515" lvl="1" indent="-302257" algn="l">
              <a:lnSpc>
                <a:spcPts val="3919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Canva Sans"/>
              </a:rPr>
              <a:t>Build AAG </a:t>
            </a:r>
            <a:r>
              <a:rPr lang="en-US" sz="28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Canva Sans"/>
              </a:rPr>
              <a:t>lean plan for small order lines effectiveness</a:t>
            </a:r>
          </a:p>
          <a:p>
            <a:pPr marL="604515" lvl="1" indent="-302257" algn="l">
              <a:lnSpc>
                <a:spcPts val="3919"/>
              </a:lnSpc>
              <a:buFont typeface="Arial"/>
              <a:buChar char="•"/>
            </a:pPr>
            <a:r>
              <a:rPr lang="en-US" sz="280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Canva Sans"/>
              </a:rPr>
              <a:t>Identify AAG </a:t>
            </a:r>
            <a:r>
              <a:rPr lang="en-US" sz="28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Canva Sans"/>
              </a:rPr>
              <a:t>expertise to support lines and build into GSS structure and budget</a:t>
            </a:r>
          </a:p>
          <a:p>
            <a:pPr marL="604515" lvl="1" indent="-302257" algn="l">
              <a:lnSpc>
                <a:spcPts val="3919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+mj-lt"/>
                <a:ea typeface="Calibri" panose="020F0502020204030204" pitchFamily="34" charset="0"/>
                <a:cs typeface="Calibri" panose="020F0502020204030204" pitchFamily="34" charset="0"/>
                <a:sym typeface="Canva Sans"/>
              </a:rPr>
              <a:t>Work back through the risks identified and assure actions in place</a:t>
            </a:r>
          </a:p>
          <a:p>
            <a:endParaRPr lang="en-US" sz="2400" dirty="0">
              <a:latin typeface="+mj-lt"/>
            </a:endParaRPr>
          </a:p>
        </p:txBody>
      </p:sp>
      <p:sp>
        <p:nvSpPr>
          <p:cNvPr id="19" name="AutoShape 2">
            <a:extLst>
              <a:ext uri="{FF2B5EF4-FFF2-40B4-BE49-F238E27FC236}">
                <a16:creationId xmlns:a16="http://schemas.microsoft.com/office/drawing/2014/main" id="{2319CF88-B4E5-9BC1-420A-69BAC3F54319}"/>
              </a:ext>
            </a:extLst>
          </p:cNvPr>
          <p:cNvSpPr/>
          <p:nvPr/>
        </p:nvSpPr>
        <p:spPr>
          <a:xfrm>
            <a:off x="555197" y="5382302"/>
            <a:ext cx="17079686" cy="17773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 sz="240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8031786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4F43DE-F589-3924-5DB4-E87125788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37F21C26-FE66-49FF-4740-CDFD1E0D7A2F}"/>
              </a:ext>
            </a:extLst>
          </p:cNvPr>
          <p:cNvSpPr/>
          <p:nvPr/>
        </p:nvSpPr>
        <p:spPr>
          <a:xfrm>
            <a:off x="5" y="1223430"/>
            <a:ext cx="18307050" cy="19050"/>
          </a:xfrm>
          <a:prstGeom prst="line">
            <a:avLst/>
          </a:prstGeom>
          <a:ln w="9525" cap="rnd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AAB71544-9729-283A-A3E4-B4E8EF22A79E}"/>
              </a:ext>
            </a:extLst>
          </p:cNvPr>
          <p:cNvSpPr txBox="1"/>
          <p:nvPr/>
        </p:nvSpPr>
        <p:spPr>
          <a:xfrm>
            <a:off x="601264" y="442220"/>
            <a:ext cx="14151844" cy="3888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48"/>
              </a:lnSpc>
            </a:pPr>
            <a:r>
              <a:rPr lang="en-US" sz="2823" b="1">
                <a:solidFill>
                  <a:srgbClr val="000000"/>
                </a:solidFill>
                <a:latin typeface="Aptos Bold"/>
                <a:ea typeface="Aptos Bold"/>
                <a:cs typeface="Aptos Bold"/>
                <a:sym typeface="Aptos Bold"/>
              </a:rPr>
              <a:t>Appendix  : Headcount Assumption</a:t>
            </a:r>
          </a:p>
        </p:txBody>
      </p:sp>
      <p:graphicFrame>
        <p:nvGraphicFramePr>
          <p:cNvPr id="10" name="Object 9">
            <a:extLst>
              <a:ext uri="{FF2B5EF4-FFF2-40B4-BE49-F238E27FC236}">
                <a16:creationId xmlns:a16="http://schemas.microsoft.com/office/drawing/2014/main" id="{650E8B97-8F9A-6C68-3344-8F84161A74B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05000" y="1643573"/>
          <a:ext cx="14020800" cy="677880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7112127" imgH="3438525" progId="Excel.Sheet.12">
                  <p:embed/>
                </p:oleObj>
              </mc:Choice>
              <mc:Fallback>
                <p:oleObj name="Worksheet" r:id="rId2" imgW="7112127" imgH="3438525" progId="Excel.Sheet.12">
                  <p:embed/>
                  <p:pic>
                    <p:nvPicPr>
                      <p:cNvPr id="10" name="Object 9">
                        <a:extLst>
                          <a:ext uri="{FF2B5EF4-FFF2-40B4-BE49-F238E27FC236}">
                            <a16:creationId xmlns:a16="http://schemas.microsoft.com/office/drawing/2014/main" id="{650E8B97-8F9A-6C68-3344-8F84161A74B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905000" y="1643573"/>
                        <a:ext cx="14020800" cy="677880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47207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2392</Words>
  <Application>Microsoft Macintosh PowerPoint</Application>
  <PresentationFormat>Custom</PresentationFormat>
  <Paragraphs>375</Paragraphs>
  <Slides>18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Wingdings</vt:lpstr>
      <vt:lpstr>Courier New</vt:lpstr>
      <vt:lpstr>Brush Script MT</vt:lpstr>
      <vt:lpstr>Arial</vt:lpstr>
      <vt:lpstr>Aptos Bold</vt:lpstr>
      <vt:lpstr>Calibri</vt:lpstr>
      <vt:lpstr>Aptos</vt:lpstr>
      <vt:lpstr>Office Theme</vt:lpstr>
      <vt:lpstr>Worksheet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Current inability to securely place larger orders with new customers Some order/customer chases have failed due to inability to quickly secure capacity for them Is there strategic misalignment?</dc:title>
  <dc:creator>Dell</dc:creator>
  <cp:lastModifiedBy>Corbett, Grant</cp:lastModifiedBy>
  <cp:revision>374</cp:revision>
  <dcterms:created xsi:type="dcterms:W3CDTF">2006-08-16T00:00:00Z</dcterms:created>
  <dcterms:modified xsi:type="dcterms:W3CDTF">2025-11-14T02:28:00Z</dcterms:modified>
  <dc:identifier>DAGoguct_9Y</dc:identifier>
</cp:coreProperties>
</file>